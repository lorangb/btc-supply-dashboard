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STRC Preferred</c:v>
                </c:pt>
              </c:strCache>
            </c:strRef>
          </c:tx>
          <c:spPr>
            <a:solidFill>
              <a:srgbClr val="7B1FA2"/>
            </a:solidFill>
          </c:spPr>
          <c:cat>
            <c:strRef>
              <c:f>Sheet1!$A$2:$A$22</c:f>
              <c:strCache>
                <c:ptCount val="21"/>
                <c:pt idx="0">
                  <c:v>Jan 5</c:v>
                </c:pt>
                <c:pt idx="1">
                  <c:v>Jan 12</c:v>
                </c:pt>
                <c:pt idx="2">
                  <c:v>Jan 19</c:v>
                </c:pt>
                <c:pt idx="3">
                  <c:v>Jan 26</c:v>
                </c:pt>
                <c:pt idx="4">
                  <c:v>Feb 2</c:v>
                </c:pt>
                <c:pt idx="5">
                  <c:v>Feb 9</c:v>
                </c:pt>
                <c:pt idx="6">
                  <c:v>Feb 16</c:v>
                </c:pt>
                <c:pt idx="7">
                  <c:v>Feb 23</c:v>
                </c:pt>
                <c:pt idx="8">
                  <c:v>Mar 2</c:v>
                </c:pt>
                <c:pt idx="9">
                  <c:v>Mar 9</c:v>
                </c:pt>
                <c:pt idx="10">
                  <c:v>Mar 16</c:v>
                </c:pt>
                <c:pt idx="11">
                  <c:v>Mar 23</c:v>
                </c:pt>
                <c:pt idx="12">
                  <c:v>Mar 30</c:v>
                </c:pt>
                <c:pt idx="13">
                  <c:v>Apr 6</c:v>
                </c:pt>
                <c:pt idx="14">
                  <c:v>Apr 13</c:v>
                </c:pt>
                <c:pt idx="15">
                  <c:v>Apr 20</c:v>
                </c:pt>
                <c:pt idx="16">
                  <c:v>Apr 27</c:v>
                </c:pt>
                <c:pt idx="17">
                  <c:v>May 4</c:v>
                </c:pt>
                <c:pt idx="18">
                  <c:v>May 11</c:v>
                </c:pt>
                <c:pt idx="19">
                  <c:v>May 18</c:v>
                </c:pt>
                <c:pt idx="20">
                  <c:v>May 25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</c:v>
                </c:pt>
                <c:pt idx="1">
                  <c:v>800</c:v>
                </c:pt>
                <c:pt idx="2">
                  <c:v>4500</c:v>
                </c:pt>
                <c:pt idx="3">
                  <c:v>4200</c:v>
                </c:pt>
                <c:pt idx="4">
                  <c:v>3200</c:v>
                </c:pt>
                <c:pt idx="5">
                  <c:v>4100</c:v>
                </c:pt>
                <c:pt idx="6">
                  <c:v>1500</c:v>
                </c:pt>
                <c:pt idx="7">
                  <c:v>9800</c:v>
                </c:pt>
                <c:pt idx="8">
                  <c:v>1200</c:v>
                </c:pt>
                <c:pt idx="9">
                  <c:v>8500</c:v>
                </c:pt>
                <c:pt idx="10">
                  <c:v>10767</c:v>
                </c:pt>
                <c:pt idx="11">
                  <c:v>0</c:v>
                </c:pt>
                <c:pt idx="12">
                  <c:v>0</c:v>
                </c:pt>
                <c:pt idx="13">
                  <c:v>2100</c:v>
                </c:pt>
                <c:pt idx="14">
                  <c:v>7500</c:v>
                </c:pt>
                <c:pt idx="15">
                  <c:v>18000</c:v>
                </c:pt>
                <c:pt idx="16">
                  <c:v>1000</c:v>
                </c:pt>
                <c:pt idx="17">
                  <c:v>0</c:v>
                </c:pt>
                <c:pt idx="18">
                  <c:v>200</c:v>
                </c:pt>
                <c:pt idx="19">
                  <c:v>20000</c:v>
                </c:pt>
                <c:pt idx="20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MSTR Equity / Other</c:v>
                </c:pt>
              </c:strCache>
            </c:strRef>
          </c:tx>
          <c:spPr>
            <a:solidFill>
              <a:srgbClr val="F7931A"/>
            </a:solidFill>
          </c:spPr>
          <c:cat>
            <c:strRef>
              <c:f>Sheet1!$A$2:$A$22</c:f>
              <c:strCache>
                <c:ptCount val="21"/>
                <c:pt idx="0">
                  <c:v>Jan 5</c:v>
                </c:pt>
                <c:pt idx="1">
                  <c:v>Jan 12</c:v>
                </c:pt>
                <c:pt idx="2">
                  <c:v>Jan 19</c:v>
                </c:pt>
                <c:pt idx="3">
                  <c:v>Jan 26</c:v>
                </c:pt>
                <c:pt idx="4">
                  <c:v>Feb 2</c:v>
                </c:pt>
                <c:pt idx="5">
                  <c:v>Feb 9</c:v>
                </c:pt>
                <c:pt idx="6">
                  <c:v>Feb 16</c:v>
                </c:pt>
                <c:pt idx="7">
                  <c:v>Feb 23</c:v>
                </c:pt>
                <c:pt idx="8">
                  <c:v>Mar 2</c:v>
                </c:pt>
                <c:pt idx="9">
                  <c:v>Mar 9</c:v>
                </c:pt>
                <c:pt idx="10">
                  <c:v>Mar 16</c:v>
                </c:pt>
                <c:pt idx="11">
                  <c:v>Mar 23</c:v>
                </c:pt>
                <c:pt idx="12">
                  <c:v>Mar 30</c:v>
                </c:pt>
                <c:pt idx="13">
                  <c:v>Apr 6</c:v>
                </c:pt>
                <c:pt idx="14">
                  <c:v>Apr 13</c:v>
                </c:pt>
                <c:pt idx="15">
                  <c:v>Apr 20</c:v>
                </c:pt>
                <c:pt idx="16">
                  <c:v>Apr 27</c:v>
                </c:pt>
                <c:pt idx="17">
                  <c:v>May 4</c:v>
                </c:pt>
                <c:pt idx="18">
                  <c:v>May 11</c:v>
                </c:pt>
                <c:pt idx="19">
                  <c:v>May 18</c:v>
                </c:pt>
                <c:pt idx="20">
                  <c:v>May 25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1468</c:v>
                </c:pt>
                <c:pt idx="1">
                  <c:v>1730</c:v>
                </c:pt>
                <c:pt idx="2">
                  <c:v>6500</c:v>
                </c:pt>
                <c:pt idx="3">
                  <c:v>5907</c:v>
                </c:pt>
                <c:pt idx="4">
                  <c:v>4433</c:v>
                </c:pt>
                <c:pt idx="5">
                  <c:v>2955</c:v>
                </c:pt>
                <c:pt idx="6">
                  <c:v>1500</c:v>
                </c:pt>
                <c:pt idx="7">
                  <c:v>10556</c:v>
                </c:pt>
                <c:pt idx="8">
                  <c:v>1815</c:v>
                </c:pt>
                <c:pt idx="9">
                  <c:v>9494</c:v>
                </c:pt>
                <c:pt idx="10">
                  <c:v>11570</c:v>
                </c:pt>
                <c:pt idx="11">
                  <c:v>0</c:v>
                </c:pt>
                <c:pt idx="12">
                  <c:v>0</c:v>
                </c:pt>
                <c:pt idx="13">
                  <c:v>2771</c:v>
                </c:pt>
                <c:pt idx="14">
                  <c:v>6427</c:v>
                </c:pt>
                <c:pt idx="15">
                  <c:v>16164</c:v>
                </c:pt>
                <c:pt idx="16">
                  <c:v>2273</c:v>
                </c:pt>
                <c:pt idx="17">
                  <c:v>0</c:v>
                </c:pt>
                <c:pt idx="18">
                  <c:v>335</c:v>
                </c:pt>
                <c:pt idx="19">
                  <c:v>4869</c:v>
                </c:pt>
                <c:pt idx="20">
                  <c:v>0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7A7A7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7A7A7A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4A4A4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BTC on Exchanges (M)</c:v>
                </c:pt>
              </c:strCache>
            </c:strRef>
          </c:tx>
          <c:spPr>
            <a:ln w="31750">
              <a:solidFill>
                <a:srgbClr val="CC0000"/>
              </a:solidFill>
            </a:ln>
          </c:spPr>
          <c:marker>
            <c:symbol val="none"/>
          </c:marker>
          <c:cat>
            <c:strRef>
              <c:f>Sheet1!$A$2:$A$28</c:f>
              <c:strCache>
                <c:ptCount val="27"/>
                <c:pt idx="0">
                  <c:v>2020-01</c:v>
                </c:pt>
                <c:pt idx="1">
                  <c:v>2020-06</c:v>
                </c:pt>
                <c:pt idx="2">
                  <c:v>2020-12</c:v>
                </c:pt>
                <c:pt idx="3">
                  <c:v>2021-03</c:v>
                </c:pt>
                <c:pt idx="4">
                  <c:v>2021-06</c:v>
                </c:pt>
                <c:pt idx="5">
                  <c:v>2021-09</c:v>
                </c:pt>
                <c:pt idx="6">
                  <c:v>2021-12</c:v>
                </c:pt>
                <c:pt idx="7">
                  <c:v>2022-03</c:v>
                </c:pt>
                <c:pt idx="8">
                  <c:v>2022-06</c:v>
                </c:pt>
                <c:pt idx="9">
                  <c:v>2022-09</c:v>
                </c:pt>
                <c:pt idx="10">
                  <c:v>2022-12</c:v>
                </c:pt>
                <c:pt idx="11">
                  <c:v>2023-03</c:v>
                </c:pt>
                <c:pt idx="12">
                  <c:v>2023-06</c:v>
                </c:pt>
                <c:pt idx="13">
                  <c:v>2023-09</c:v>
                </c:pt>
                <c:pt idx="14">
                  <c:v>2023-12</c:v>
                </c:pt>
                <c:pt idx="15">
                  <c:v>2024-03</c:v>
                </c:pt>
                <c:pt idx="16">
                  <c:v>2024-06</c:v>
                </c:pt>
                <c:pt idx="17">
                  <c:v>2024-09</c:v>
                </c:pt>
                <c:pt idx="18">
                  <c:v>2024-12</c:v>
                </c:pt>
                <c:pt idx="19">
                  <c:v>2025-03</c:v>
                </c:pt>
                <c:pt idx="20">
                  <c:v>2025-06</c:v>
                </c:pt>
                <c:pt idx="21">
                  <c:v>2025-09</c:v>
                </c:pt>
                <c:pt idx="22">
                  <c:v>2025-12</c:v>
                </c:pt>
                <c:pt idx="23">
                  <c:v>2026-01</c:v>
                </c:pt>
                <c:pt idx="24">
                  <c:v>2026-02</c:v>
                </c:pt>
                <c:pt idx="25">
                  <c:v>2026-03</c:v>
                </c:pt>
                <c:pt idx="26">
                  <c:v>2026-05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3.1</c:v>
                </c:pt>
                <c:pt idx="1">
                  <c:v>3.05</c:v>
                </c:pt>
                <c:pt idx="2">
                  <c:v>2.9</c:v>
                </c:pt>
                <c:pt idx="3">
                  <c:v>2.8</c:v>
                </c:pt>
                <c:pt idx="4">
                  <c:v>2.65</c:v>
                </c:pt>
                <c:pt idx="5">
                  <c:v>2.55</c:v>
                </c:pt>
                <c:pt idx="6">
                  <c:v>2.6</c:v>
                </c:pt>
                <c:pt idx="7">
                  <c:v>2.55</c:v>
                </c:pt>
                <c:pt idx="8">
                  <c:v>2.5</c:v>
                </c:pt>
                <c:pt idx="9">
                  <c:v>2.45</c:v>
                </c:pt>
                <c:pt idx="10">
                  <c:v>2.4</c:v>
                </c:pt>
                <c:pt idx="11">
                  <c:v>2.38</c:v>
                </c:pt>
                <c:pt idx="12">
                  <c:v>2.35</c:v>
                </c:pt>
                <c:pt idx="13">
                  <c:v>2.3</c:v>
                </c:pt>
                <c:pt idx="14">
                  <c:v>2.35</c:v>
                </c:pt>
                <c:pt idx="15">
                  <c:v>2.32</c:v>
                </c:pt>
                <c:pt idx="16">
                  <c:v>2.8</c:v>
                </c:pt>
                <c:pt idx="17">
                  <c:v>2.9</c:v>
                </c:pt>
                <c:pt idx="18">
                  <c:v>3.05</c:v>
                </c:pt>
                <c:pt idx="19">
                  <c:v>3.1</c:v>
                </c:pt>
                <c:pt idx="20">
                  <c:v>3.08</c:v>
                </c:pt>
                <c:pt idx="21">
                  <c:v>3.05</c:v>
                </c:pt>
                <c:pt idx="22">
                  <c:v>3.02</c:v>
                </c:pt>
                <c:pt idx="23">
                  <c:v>3.0</c:v>
                </c:pt>
                <c:pt idx="24">
                  <c:v>2.98</c:v>
                </c:pt>
                <c:pt idx="25">
                  <c:v>2.97</c:v>
                </c:pt>
                <c:pt idx="26">
                  <c:v>2.97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7A7A7A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.5"/>
          <c:min val="1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7A7A7A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Weekly Buy</c:v>
                </c:pt>
              </c:strCache>
            </c:strRef>
          </c:tx>
          <c:spPr>
            <a:solidFill>
              <a:srgbClr val="F7931A"/>
            </a:solidFill>
          </c:spPr>
          <c:cat>
            <c:strRef>
              <c:f>Sheet1!$A$2:$A$11</c:f>
              <c:strCache>
                <c:ptCount val="10"/>
                <c:pt idx="0">
                  <c:v>Mar 23</c:v>
                </c:pt>
                <c:pt idx="1">
                  <c:v>Mar 30</c:v>
                </c:pt>
                <c:pt idx="2">
                  <c:v>Apr 6</c:v>
                </c:pt>
                <c:pt idx="3">
                  <c:v>Apr 13</c:v>
                </c:pt>
                <c:pt idx="4">
                  <c:v>Apr 20</c:v>
                </c:pt>
                <c:pt idx="5">
                  <c:v>Apr 27</c:v>
                </c:pt>
                <c:pt idx="6">
                  <c:v>May 4</c:v>
                </c:pt>
                <c:pt idx="7">
                  <c:v>May 11</c:v>
                </c:pt>
                <c:pt idx="8">
                  <c:v>May 18</c:v>
                </c:pt>
                <c:pt idx="9">
                  <c:v>May 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4871</c:v>
                </c:pt>
                <c:pt idx="3">
                  <c:v>13927</c:v>
                </c:pt>
                <c:pt idx="4">
                  <c:v>34164</c:v>
                </c:pt>
                <c:pt idx="5">
                  <c:v>3273</c:v>
                </c:pt>
                <c:pt idx="6">
                  <c:v>0</c:v>
                </c:pt>
                <c:pt idx="7">
                  <c:v>535</c:v>
                </c:pt>
                <c:pt idx="8">
                  <c:v>24869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Strive Est. Weekly Buy</c:v>
                </c:pt>
              </c:strCache>
            </c:strRef>
          </c:tx>
          <c:spPr>
            <a:solidFill>
              <a:srgbClr val="7B1FA2"/>
            </a:solidFill>
          </c:spPr>
          <c:cat>
            <c:strRef>
              <c:f>Sheet1!$A$2:$A$11</c:f>
              <c:strCache>
                <c:ptCount val="10"/>
                <c:pt idx="0">
                  <c:v>Mar 23</c:v>
                </c:pt>
                <c:pt idx="1">
                  <c:v>Mar 30</c:v>
                </c:pt>
                <c:pt idx="2">
                  <c:v>Apr 6</c:v>
                </c:pt>
                <c:pt idx="3">
                  <c:v>Apr 13</c:v>
                </c:pt>
                <c:pt idx="4">
                  <c:v>Apr 20</c:v>
                </c:pt>
                <c:pt idx="5">
                  <c:v>Apr 27</c:v>
                </c:pt>
                <c:pt idx="6">
                  <c:v>May 4</c:v>
                </c:pt>
                <c:pt idx="7">
                  <c:v>May 11</c:v>
                </c:pt>
                <c:pt idx="8">
                  <c:v>May 18</c:v>
                </c:pt>
                <c:pt idx="9">
                  <c:v>May 25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350</c:v>
                </c:pt>
                <c:pt idx="1">
                  <c:v>350</c:v>
                </c:pt>
                <c:pt idx="2">
                  <c:v>350</c:v>
                </c:pt>
                <c:pt idx="3">
                  <c:v>350</c:v>
                </c:pt>
                <c:pt idx="4">
                  <c:v>350</c:v>
                </c:pt>
                <c:pt idx="5">
                  <c:v>350</c:v>
                </c:pt>
                <c:pt idx="6">
                  <c:v>350</c:v>
                </c:pt>
                <c:pt idx="7">
                  <c:v>350</c:v>
                </c:pt>
                <c:pt idx="8">
                  <c:v>350</c:v>
                </c:pt>
                <c:pt idx="9">
                  <c:v>350</c:v>
                </c:pt>
              </c:numCache>
            </c:numRef>
          </c:val>
        </c:ser>
        <c:gapWidth val="10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7A7A7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7A7A7A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4A4A4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109728"/>
          </a:xfrm>
          <a:prstGeom prst="rect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5486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 i="0">
                <a:solidFill>
                  <a:srgbClr val="FFFFFF"/>
                </a:solidFill>
                <a:latin typeface="Calibri"/>
              </a:defRPr>
            </a:pPr>
            <a:r>
              <a:t>BTC SUPPLY SHOCK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46304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FFCCCC"/>
                </a:solidFill>
                <a:latin typeface="Calibri"/>
              </a:defRPr>
            </a:pPr>
            <a:r>
              <a:t>Dashboard &amp; Forecast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945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9999"/>
                </a:solidFill>
                <a:latin typeface="Calibri"/>
              </a:defRPr>
            </a:pPr>
            <a:r>
              <a:t>Exchange Balance Monitor  |  STRC  |  SATA  |  Nuclear Supply Shock Projections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7A7A7A"/>
                </a:solidFill>
                <a:latin typeface="Calibri"/>
              </a:defRPr>
            </a:pPr>
            <a:r>
              <a:t>Data sourced from Glassnode, STRC.live, Strategy.com, Strive IR, and SEC 8-K filings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4A4A4A"/>
                </a:solidFill>
                <a:latin typeface="Calibri"/>
              </a:defRPr>
            </a:pPr>
            <a:r>
              <a:t>Prepared: June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CC0000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2286000" cy="3657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BTC Supply Shock Analysis  |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Sources: Glassnode  ·  STRC.live  ·  Strategy.com  ·  SEC 8-K Filings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097280"/>
            <a:ext cx="73152" cy="822960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0972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2D2D2D"/>
                </a:solidFill>
                <a:latin typeface="Calibri"/>
              </a:defRPr>
            </a:pPr>
            <a:r>
              <a:t>Supply Crisis Forming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44475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Only 14.85% of all Bitcoin (2.97M BTC) remains on exchanges — the liquid float available for purchase. This is in structural decline.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21408"/>
            <a:ext cx="73152" cy="82296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1214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2D2D2D"/>
                </a:solidFill>
                <a:latin typeface="Calibri"/>
              </a:defRPr>
            </a:pPr>
            <a:r>
              <a:t>Corporate Demand Exceeds New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4688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Strategy (MSTR) alone buys 3-10x more BTC per week than miners produce. Combined with Strive, ETFs, and organic outflows, demand structurally exceeds supply.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145536"/>
            <a:ext cx="73152" cy="82296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14553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2D2D2D"/>
                </a:solidFill>
                <a:latin typeface="Calibri"/>
              </a:defRPr>
            </a:pPr>
            <a:r>
              <a:t>STRC Industrializes Acquisition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9300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Strategy's STRC preferred stock ($10.5B market cap) is now the primary BTC acquisition engine, generating $1-2B/week. Strive's SATA adds a second vector at 13% daily yield.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169664"/>
            <a:ext cx="73152" cy="82296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69664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2D2D2D"/>
                </a:solidFill>
                <a:latin typeface="Calibri"/>
              </a:defRPr>
            </a:pPr>
            <a:r>
              <a:t>Nuclear Shock Projected 12-24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51713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Under base case assumptions, exchange balance drops below 1M BTC (nuclear threshold) by January 2028. Bull case: August 2027. Even conservative case hits "High" by mid-2028.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193792"/>
            <a:ext cx="73152" cy="822960"/>
          </a:xfrm>
          <a:prstGeom prst="rect">
            <a:avLst/>
          </a:prstGeom>
          <a:solidFill>
            <a:srgbClr val="0037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1937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2D2D2D"/>
                </a:solidFill>
                <a:latin typeface="Calibri"/>
              </a:defRPr>
            </a:pPr>
            <a:r>
              <a:t>April 2028 Halving is a Force Multiplier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54126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Miner issuance drops from 3,150 to ~1,575 BTC/week — making the supply deficit even more acute during a period of already declining reserves.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CC0000"/>
                </a:solidFill>
                <a:latin typeface="Calibri"/>
              </a:defRPr>
            </a:pPr>
            <a:r>
              <a:t>Current State of BTC Supply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2286000" cy="3657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As of May 31, 2026  —  Data from Glassnode, SEC 8-K filings, STRC.live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BTC Supply Shock Analysis  |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Sources: Glassnode  ·  STRC.live  ·  Strategy.com  ·  SEC 8-K Filings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21031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371600"/>
            <a:ext cx="210312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554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A7A7A"/>
                </a:solidFill>
                <a:latin typeface="Calibri"/>
              </a:defRPr>
            </a:pPr>
            <a:r>
              <a:t>BTC PRICE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74519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2D2D2D"/>
                </a:solidFill>
                <a:latin typeface="Calibri"/>
              </a:defRPr>
            </a:pPr>
            <a:r>
              <a:t>$73,751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23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May 31,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80360" y="1371600"/>
            <a:ext cx="21031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80360" y="1371600"/>
            <a:ext cx="2103120" cy="54864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1554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A7A7A"/>
                </a:solidFill>
                <a:latin typeface="Calibri"/>
              </a:defRPr>
            </a:pPr>
            <a:r>
              <a:t>ON EXCHANGES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1874519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2D2D2D"/>
                </a:solidFill>
                <a:latin typeface="Calibri"/>
              </a:defRPr>
            </a:pPr>
            <a:r>
              <a:t>~2.97M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2423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Glassnode All Exchanges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2080" y="1371600"/>
            <a:ext cx="21031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12080" y="1371600"/>
            <a:ext cx="2103120" cy="54864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9240" y="1554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A7A7A"/>
                </a:solidFill>
                <a:latin typeface="Calibri"/>
              </a:defRPr>
            </a:pPr>
            <a:r>
              <a:t>% ON EXCHANGES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1874519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2D2D2D"/>
                </a:solidFill>
                <a:latin typeface="Calibri"/>
              </a:defRPr>
            </a:pPr>
            <a:r>
              <a:t>14.85%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2423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of 20.0M mined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43800" y="1371600"/>
            <a:ext cx="21031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43800" y="1371600"/>
            <a:ext cx="2103120" cy="54864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1554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A7A7A"/>
                </a:solidFill>
                <a:latin typeface="Calibri"/>
              </a:defRPr>
            </a:pPr>
            <a:r>
              <a:t>STRATEGY (MSTR)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1874519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2D2D2D"/>
                </a:solidFill>
                <a:latin typeface="Calibri"/>
              </a:defRPr>
            </a:pPr>
            <a:r>
              <a:t>843,738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2423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4.22% of total supply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5520" y="1371600"/>
            <a:ext cx="21031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75520" y="1371600"/>
            <a:ext cx="2103120" cy="54864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12680" y="1554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A7A7A"/>
                </a:solidFill>
                <a:latin typeface="Calibri"/>
              </a:defRPr>
            </a:pPr>
            <a:r>
              <a:t>STRIVE (ASST)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1874519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2D2D2D"/>
                </a:solidFill>
                <a:latin typeface="Calibri"/>
              </a:defRPr>
            </a:pPr>
            <a:r>
              <a:t>16,500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2423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0.08% of total supply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108960"/>
            <a:ext cx="5486400" cy="41148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1546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SUPPLY BREAKDOWN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520440"/>
            <a:ext cx="54864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3520440"/>
            <a:ext cx="54864" cy="347472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35661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Total Mined Supply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1840" y="356616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 i="0">
                <a:solidFill>
                  <a:srgbClr val="2D2D2D"/>
                </a:solidFill>
                <a:latin typeface="Calibri"/>
              </a:defRPr>
            </a:pPr>
            <a:r>
              <a:t>20,000,000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356616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3867912"/>
            <a:ext cx="5486400" cy="347472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3867912"/>
            <a:ext cx="54864" cy="347472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39136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Lost / Inaccessible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91840" y="391363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 i="0">
                <a:solidFill>
                  <a:srgbClr val="2D2D2D"/>
                </a:solidFill>
                <a:latin typeface="Calibri"/>
              </a:defRPr>
            </a:pPr>
            <a:r>
              <a:t>~3,500,000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91363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17.50%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4215384"/>
            <a:ext cx="54864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8640" y="4215384"/>
            <a:ext cx="54864" cy="347472"/>
          </a:xfrm>
          <a:prstGeom prst="rect">
            <a:avLst/>
          </a:prstGeom>
          <a:solidFill>
            <a:srgbClr val="0037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42611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Long-term Holders (1yr+)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91840" y="4261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 i="0">
                <a:solidFill>
                  <a:srgbClr val="2D2D2D"/>
                </a:solidFill>
                <a:latin typeface="Calibri"/>
              </a:defRPr>
            </a:pPr>
            <a:r>
              <a:t>~8,500,000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54880" y="426110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42.50%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4562856"/>
            <a:ext cx="5486400" cy="347472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48640" y="4562856"/>
            <a:ext cx="54864" cy="347472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" y="460857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ETFs &amp; Institutions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460857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 i="0">
                <a:solidFill>
                  <a:srgbClr val="2D2D2D"/>
                </a:solidFill>
                <a:latin typeface="Calibri"/>
              </a:defRPr>
            </a:pPr>
            <a:r>
              <a:t>~1,100,000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80" y="460857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5.50%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4910328"/>
            <a:ext cx="54864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48640" y="4910328"/>
            <a:ext cx="54864" cy="34747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7240" y="495604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Strategy (MSTR)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91840" y="495604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 i="0">
                <a:solidFill>
                  <a:srgbClr val="2D2D2D"/>
                </a:solidFill>
                <a:latin typeface="Calibri"/>
              </a:defRPr>
            </a:pPr>
            <a:r>
              <a:t>843,738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95604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4.22%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57800"/>
            <a:ext cx="5486400" cy="347472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8640" y="5257800"/>
            <a:ext cx="54864" cy="347472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53035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Strive (ASST)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91840" y="5303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 i="0">
                <a:solidFill>
                  <a:srgbClr val="2D2D2D"/>
                </a:solidFill>
                <a:latin typeface="Calibri"/>
              </a:defRPr>
            </a:pPr>
            <a:r>
              <a:t>16,500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54880" y="530352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0.08%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5605272"/>
            <a:ext cx="54864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48640" y="5605272"/>
            <a:ext cx="54864" cy="347472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77240" y="565099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On Exchanges (liquid)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91840" y="56509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 i="0">
                <a:solidFill>
                  <a:srgbClr val="2D2D2D"/>
                </a:solidFill>
                <a:latin typeface="Calibri"/>
              </a:defRPr>
            </a:pPr>
            <a:r>
              <a:t>~2,970,000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54880" y="56509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14.85%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8640" y="5952744"/>
            <a:ext cx="5486400" cy="347472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48640" y="5952744"/>
            <a:ext cx="54864" cy="34747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77240" y="599846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Other Circulating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91840" y="599846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 i="0">
                <a:solidFill>
                  <a:srgbClr val="2D2D2D"/>
                </a:solidFill>
                <a:latin typeface="Calibri"/>
              </a:defRPr>
            </a:pPr>
            <a:r>
              <a:t>~3,070,000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54880" y="599846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15.35%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400800" y="3108960"/>
            <a:ext cx="5212080" cy="41148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83680" y="31546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KEY DYNAMICS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83680" y="365760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      New miner issuance: 450 BTC/day (3,150/week)</a:t>
            </a:r>
          </a:p>
          <a:p>
            <a:pPr>
              <a:spcBef>
                <a:spcPts val="6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      Next halving: April 2028 → cuts to ~1,575/week</a:t>
            </a:r>
          </a:p>
          <a:p>
            <a:pPr>
              <a:spcBef>
                <a:spcPts val="6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      Strategy buying 3-10x miner output per week</a:t>
            </a:r>
          </a:p>
          <a:p>
            <a:pPr>
              <a:spcBef>
                <a:spcPts val="6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      Strive adding ~350 BTC/week and accelerating</a:t>
            </a:r>
          </a:p>
          <a:p>
            <a:pPr>
              <a:spcBef>
                <a:spcPts val="6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      Exchange reserves at multi-year structural lows</a:t>
            </a:r>
          </a:p>
          <a:p>
            <a:pPr>
              <a:spcBef>
                <a:spcPts val="6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      STRC now primary BTC acquisition vehicle</a:t>
            </a:r>
          </a:p>
          <a:p>
            <a:pPr>
              <a:spcBef>
                <a:spcPts val="6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      Corporate demand structurally &gt; new supply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CC0000"/>
                </a:solidFill>
                <a:latin typeface="Calibri"/>
              </a:defRPr>
            </a:pPr>
            <a:r>
              <a:t>Strategy Weekly BTC Purchases — 2026 YTD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2286000" cy="3657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Breakdown: STRC Preferred Stock funding vs MSTR Equity / Other sources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BTC Supply Shock Analysis  |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Sources: Glassnode  ·  STRC.live  ·  Strategy.com  ·  SEC 8-K Filings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48640" y="1280160"/>
          <a:ext cx="1106424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548640" y="5120640"/>
            <a:ext cx="11064240" cy="1188720"/>
          </a:xfrm>
          <a:prstGeom prst="rect">
            <a:avLst/>
          </a:prstGeom>
          <a:solidFill>
            <a:srgbClr val="F5F5F5"/>
          </a:solidFill>
          <a:ln w="9525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7B1FA2"/>
                </a:solidFill>
                <a:latin typeface="Calibri"/>
              </a:defRPr>
            </a:pPr>
            <a:r>
              <a:t>STRC is now the primary BTC acquisition engine.</a:t>
            </a:r>
          </a:p>
          <a:p>
            <a:pPr>
              <a:spcBef>
                <a:spcPts val="4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In the week of May 11-17, STRC ATM inflows hit $2.0B — funding nearly 100% of Strategy's 24,869 BTC purchase that week.</a:t>
            </a:r>
          </a:p>
          <a:p>
            <a:pPr>
              <a:spcBef>
                <a:spcPts val="400"/>
              </a:spcBef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Daily STRC ATM spiked to an estimated 14,439 BTC-equivalent on May 14 alone.  STRC market cap: $10.5B — largest preferred stock globally.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CC0000"/>
                </a:solidFill>
                <a:latin typeface="Calibri"/>
              </a:defRPr>
            </a:pPr>
            <a:r>
              <a:t>STRC vs SATA — Preferred Stock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2286000" cy="3657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Two preferred equity instruments driving BTC treasury accumulation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BTC Supply Shock Analysis  |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Sources: Glassnode  ·  STRC.live  ·  Strategy.com  ·  SEC 8-K Filings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325880"/>
            <a:ext cx="3108960" cy="38404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380744"/>
            <a:ext cx="283464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325880"/>
            <a:ext cx="3840480" cy="38404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40" y="1380744"/>
            <a:ext cx="3566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STRC (Strategy)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0" y="1325880"/>
            <a:ext cx="3840480" cy="38404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20" y="1380744"/>
            <a:ext cx="3566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SATA (Strive)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1709928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764792"/>
            <a:ext cx="283464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D2D2D"/>
                </a:solidFill>
                <a:latin typeface="Calibri"/>
              </a:defRPr>
            </a:pPr>
            <a:r>
              <a:t>Issuer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0" y="1709928"/>
            <a:ext cx="38404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77640" y="1764792"/>
            <a:ext cx="3566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4A4A"/>
                </a:solidFill>
                <a:latin typeface="Calibri"/>
              </a:defRPr>
            </a:pPr>
            <a:r>
              <a:t>Strategy Inc (MSTR)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0" y="1709928"/>
            <a:ext cx="38404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20" y="1764792"/>
            <a:ext cx="3566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4A4A"/>
                </a:solidFill>
                <a:latin typeface="Calibri"/>
              </a:defRPr>
            </a:pPr>
            <a:r>
              <a:t>Strive Inc (ASST)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2093976"/>
            <a:ext cx="3108960" cy="38404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2148840"/>
            <a:ext cx="283464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D2D2D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2093976"/>
            <a:ext cx="3840480" cy="38404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77640" y="2148840"/>
            <a:ext cx="3566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4A4A"/>
                </a:solidFill>
                <a:latin typeface="Calibri"/>
              </a:defRPr>
            </a:pPr>
            <a:r>
              <a:t>Variable Rate Perpetual Pref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0" y="2093976"/>
            <a:ext cx="3840480" cy="38404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8120" y="2148840"/>
            <a:ext cx="3566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4A4A"/>
                </a:solidFill>
                <a:latin typeface="Calibri"/>
              </a:defRPr>
            </a:pPr>
            <a:r>
              <a:t>Variable Rate Perpetual Pref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2478024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2532888"/>
            <a:ext cx="283464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D2D2D"/>
                </a:solidFill>
                <a:latin typeface="Calibri"/>
              </a:defRPr>
            </a:pPr>
            <a:r>
              <a:t>Dividend Rate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0" y="2478024"/>
            <a:ext cx="38404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77640" y="2532888"/>
            <a:ext cx="3566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7931A"/>
                </a:solidFill>
                <a:latin typeface="Calibri"/>
              </a:defRPr>
            </a:pPr>
            <a:r>
              <a:t>11.50% annual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80960" y="2478024"/>
            <a:ext cx="38404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18120" y="2532888"/>
            <a:ext cx="3566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B1FA2"/>
                </a:solidFill>
                <a:latin typeface="Calibri"/>
              </a:defRPr>
            </a:pPr>
            <a:r>
              <a:t>13.00% annual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2862072"/>
            <a:ext cx="3108960" cy="38404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2916936"/>
            <a:ext cx="283464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D2D2D"/>
                </a:solidFill>
                <a:latin typeface="Calibri"/>
              </a:defRPr>
            </a:pPr>
            <a:r>
              <a:t>Dividend Frequency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0" y="2862072"/>
            <a:ext cx="3840480" cy="38404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77640" y="2916936"/>
            <a:ext cx="3566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4A4A"/>
                </a:solidFill>
                <a:latin typeface="Calibri"/>
              </a:defRPr>
            </a:pPr>
            <a:r>
              <a:t>Monthly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80960" y="2862072"/>
            <a:ext cx="3840480" cy="38404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18120" y="2916936"/>
            <a:ext cx="3566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4A4A"/>
                </a:solidFill>
                <a:latin typeface="Calibri"/>
              </a:defRPr>
            </a:pPr>
            <a:r>
              <a:t>Daily (from Jun 16, 2026)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3246120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3300984"/>
            <a:ext cx="283464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D2D2D"/>
                </a:solidFill>
                <a:latin typeface="Calibri"/>
              </a:defRPr>
            </a:pPr>
            <a:r>
              <a:t>Par Value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40480" y="3246120"/>
            <a:ext cx="38404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77640" y="3300984"/>
            <a:ext cx="3566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4A4A"/>
                </a:solidFill>
                <a:latin typeface="Calibri"/>
              </a:defRPr>
            </a:pPr>
            <a:r>
              <a:t>$100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80960" y="3246120"/>
            <a:ext cx="38404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18120" y="3300984"/>
            <a:ext cx="3566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4A4A"/>
                </a:solidFill>
                <a:latin typeface="Calibri"/>
              </a:defRPr>
            </a:pPr>
            <a:r>
              <a:t>$100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3630168"/>
            <a:ext cx="3108960" cy="38404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" y="3685031"/>
            <a:ext cx="283464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D2D2D"/>
                </a:solidFill>
                <a:latin typeface="Calibri"/>
              </a:defRPr>
            </a:pPr>
            <a:r>
              <a:t>Market Cap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0" y="3630168"/>
            <a:ext cx="3840480" cy="38404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77640" y="3685031"/>
            <a:ext cx="3566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7931A"/>
                </a:solidFill>
                <a:latin typeface="Calibri"/>
              </a:defRPr>
            </a:pPr>
            <a:r>
              <a:t>~$10.5B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80960" y="3630168"/>
            <a:ext cx="3840480" cy="38404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18120" y="3685031"/>
            <a:ext cx="3566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B1FA2"/>
                </a:solidFill>
                <a:latin typeface="Calibri"/>
              </a:defRPr>
            </a:pPr>
            <a:r>
              <a:t>~$845M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4014215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8680" y="4069079"/>
            <a:ext cx="283464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D2D2D"/>
                </a:solidFill>
                <a:latin typeface="Calibri"/>
              </a:defRPr>
            </a:pPr>
            <a:r>
              <a:t>Notional Outstanding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0" y="4014215"/>
            <a:ext cx="38404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77640" y="4069079"/>
            <a:ext cx="3566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4A4A"/>
                </a:solidFill>
                <a:latin typeface="Calibri"/>
              </a:defRPr>
            </a:pPr>
            <a:r>
              <a:t>$15.5B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80960" y="4014215"/>
            <a:ext cx="38404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18120" y="4069079"/>
            <a:ext cx="3566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4A4A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0" y="4398264"/>
            <a:ext cx="3108960" cy="38404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" y="4453127"/>
            <a:ext cx="283464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D2D2D"/>
                </a:solidFill>
                <a:latin typeface="Calibri"/>
              </a:defRPr>
            </a:pPr>
            <a:r>
              <a:t>BTC Backing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40480" y="4398264"/>
            <a:ext cx="3840480" cy="38404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977640" y="4453127"/>
            <a:ext cx="3566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7931A"/>
                </a:solidFill>
                <a:latin typeface="Calibri"/>
              </a:defRPr>
            </a:pPr>
            <a:r>
              <a:t>843,738 BTC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80960" y="4398264"/>
            <a:ext cx="3840480" cy="38404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18120" y="4453127"/>
            <a:ext cx="3566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B1FA2"/>
                </a:solidFill>
                <a:latin typeface="Calibri"/>
              </a:defRPr>
            </a:pPr>
            <a:r>
              <a:t>16,500 BTC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31520" y="4782312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68680" y="4837175"/>
            <a:ext cx="283464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D2D2D"/>
                </a:solidFill>
                <a:latin typeface="Calibri"/>
              </a:defRPr>
            </a:pPr>
            <a:r>
              <a:t>Debt Status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840480" y="4782312"/>
            <a:ext cx="38404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977640" y="4837175"/>
            <a:ext cx="3566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4A4A"/>
                </a:solidFill>
                <a:latin typeface="Calibri"/>
              </a:defRPr>
            </a:pPr>
            <a:r>
              <a:t>$8B+ convertible notes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680960" y="4782312"/>
            <a:ext cx="38404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18120" y="4837175"/>
            <a:ext cx="3566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E7D32"/>
                </a:solidFill>
                <a:latin typeface="Calibri"/>
              </a:defRPr>
            </a:pPr>
            <a:r>
              <a:t>$0 — debt free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31520" y="5166360"/>
            <a:ext cx="3108960" cy="38404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" y="5221224"/>
            <a:ext cx="283464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D2D2D"/>
                </a:solidFill>
                <a:latin typeface="Calibri"/>
              </a:defRPr>
            </a:pPr>
            <a:r>
              <a:t>BTC Encumbered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840480" y="5166360"/>
            <a:ext cx="3840480" cy="38404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977640" y="5221224"/>
            <a:ext cx="3566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4A4A"/>
                </a:solidFill>
                <a:latin typeface="Calibri"/>
              </a:defRPr>
            </a:pPr>
            <a:r>
              <a:t>Partially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680960" y="5166360"/>
            <a:ext cx="3840480" cy="38404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18120" y="5221224"/>
            <a:ext cx="3566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E7D32"/>
                </a:solidFill>
                <a:latin typeface="Calibri"/>
              </a:defRPr>
            </a:pPr>
            <a:r>
              <a:t>0% — fully unencumbered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520" y="5394960"/>
            <a:ext cx="5029200" cy="914400"/>
          </a:xfrm>
          <a:prstGeom prst="rect">
            <a:avLst/>
          </a:prstGeom>
          <a:solidFill>
            <a:srgbClr val="F5F5F5"/>
          </a:solidFill>
          <a:ln w="9525">
            <a:solidFill>
              <a:srgbClr val="F793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4400" y="548640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7931A"/>
                </a:solidFill>
                <a:latin typeface="Calibri"/>
              </a:defRPr>
            </a:pPr>
            <a:r>
              <a:t>STRC: The Bitcoin Acquisition Machine</a:t>
            </a:r>
          </a:p>
          <a:p>
            <a:pPr>
              <a:spcBef>
                <a:spcPts val="400"/>
              </a:spcBef>
              <a:defRPr sz="1100" b="0" i="0">
                <a:solidFill>
                  <a:srgbClr val="4A4A4A"/>
                </a:solidFill>
                <a:latin typeface="Calibri"/>
              </a:defRPr>
            </a:pPr>
            <a:r>
              <a:t>Scaled to $10.5B in 10 months — largest preferred stock</a:t>
            </a:r>
          </a:p>
          <a:p>
            <a:pPr>
              <a:spcBef>
                <a:spcPts val="400"/>
              </a:spcBef>
              <a:defRPr sz="1100" b="0" i="0">
                <a:solidFill>
                  <a:srgbClr val="4A4A4A"/>
                </a:solidFill>
                <a:latin typeface="Calibri"/>
              </a:defRPr>
            </a:pPr>
            <a:r>
              <a:t>globally. Generates $1-2B/week in BTC capital.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5394960"/>
            <a:ext cx="5029200" cy="914400"/>
          </a:xfrm>
          <a:prstGeom prst="rect">
            <a:avLst/>
          </a:prstGeom>
          <a:solidFill>
            <a:srgbClr val="F5F5F5"/>
          </a:solidFill>
          <a:ln w="9525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17920" y="548640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7B1FA2"/>
                </a:solidFill>
                <a:latin typeface="Calibri"/>
              </a:defRPr>
            </a:pPr>
            <a:r>
              <a:t>SATA: The Clean Balance Sheet Play</a:t>
            </a:r>
          </a:p>
          <a:p>
            <a:pPr>
              <a:spcBef>
                <a:spcPts val="400"/>
              </a:spcBef>
              <a:defRPr sz="1100" b="0" i="0">
                <a:solidFill>
                  <a:srgbClr val="4A4A4A"/>
                </a:solidFill>
                <a:latin typeface="Calibri"/>
              </a:defRPr>
            </a:pPr>
            <a:r>
              <a:t>Zero debt, fully unencumbered BTC. First U.S. listed</a:t>
            </a:r>
          </a:p>
          <a:p>
            <a:pPr>
              <a:spcBef>
                <a:spcPts val="400"/>
              </a:spcBef>
              <a:defRPr sz="1100" b="0" i="0">
                <a:solidFill>
                  <a:srgbClr val="4A4A4A"/>
                </a:solidFill>
                <a:latin typeface="Calibri"/>
              </a:defRPr>
            </a:pPr>
            <a:r>
              <a:t>security to pay daily dividends. 13% annual yield.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CC0000"/>
                </a:solidFill>
                <a:latin typeface="Calibri"/>
              </a:defRPr>
            </a:pPr>
            <a:r>
              <a:t>Exchange Balance — Structural Decline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2286000" cy="3657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Glassnode aggregate exchange balance — 2020 to present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BTC Supply Shock Analysis  |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Sources: Glassnode  ·  STRC.live  ·  Strategy.com  ·  SEC 8-K Filings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48640" y="1188720"/>
          <a:ext cx="6858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14400" y="45720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02B20"/>
                </a:solidFill>
                <a:latin typeface="Calibri"/>
              </a:defRPr>
            </a:pPr>
            <a:r>
              <a:t>NUCLEAR threshold — 1.0M BTC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68A00"/>
                </a:solidFill>
                <a:latin typeface="Calibri"/>
              </a:defRPr>
            </a:pPr>
            <a:r>
              <a:t>SEVERE threshold — 1.5M BTC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CC9900"/>
                </a:solidFill>
                <a:latin typeface="Calibri"/>
              </a:defRPr>
            </a:pPr>
            <a:r>
              <a:t>HIGH threshold — 2.0M BTC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1188720"/>
            <a:ext cx="4023360" cy="4114800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37160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C0000"/>
                </a:solidFill>
                <a:latin typeface="Calibri"/>
              </a:defRPr>
            </a:pPr>
            <a:r>
              <a:t>Why Exchange Balance Matters</a:t>
            </a:r>
          </a:p>
          <a:p>
            <a:pPr>
              <a:spcBef>
                <a:spcPts val="400"/>
              </a:spcBef>
              <a:defRPr sz="600" b="0" i="0">
                <a:solidFill>
                  <a:srgbClr val="2D2D2D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Exchange BTC is the "float" — the only supply available for immediate purchase by new buyers.</a:t>
            </a:r>
          </a:p>
          <a:p>
            <a:pPr>
              <a:spcBef>
                <a:spcPts val="400"/>
              </a:spcBef>
              <a:defRPr sz="600" b="0" i="0">
                <a:solidFill>
                  <a:srgbClr val="2D2D2D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When buyers want more BTC than sellers offer, price must rise to incentivize holders to sell. A shrinking float amplifies this effect.</a:t>
            </a:r>
          </a:p>
          <a:p>
            <a:pPr>
              <a:spcBef>
                <a:spcPts val="400"/>
              </a:spcBef>
              <a:defRPr sz="600" b="0" i="0">
                <a:solidFill>
                  <a:srgbClr val="2D2D2D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1" i="0">
                <a:solidFill>
                  <a:srgbClr val="2D2D2D"/>
                </a:solidFill>
                <a:latin typeface="Calibri"/>
              </a:defRPr>
            </a:pPr>
            <a:r>
              <a:t>Every major BTC rally (2013, 2017, 2021) was preceded by declining exchange reserves.</a:t>
            </a:r>
          </a:p>
          <a:p>
            <a:pPr>
              <a:spcBef>
                <a:spcPts val="400"/>
              </a:spcBef>
              <a:defRPr sz="600" b="0" i="0">
                <a:solidFill>
                  <a:srgbClr val="2D2D2D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0" i="0">
                <a:solidFill>
                  <a:srgbClr val="E02B20"/>
                </a:solidFill>
                <a:latin typeface="Calibri"/>
              </a:defRPr>
            </a:pPr>
            <a:r>
              <a:t>Post-halving issuance (450 BTC/day) cannot replace what is being withdrawn by corporates and self-custody.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CC0000"/>
                </a:solidFill>
                <a:latin typeface="Calibri"/>
              </a:defRPr>
            </a:pPr>
            <a:r>
              <a:t>The Structural Imbalance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2286000" cy="3657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Corporate BTC demand vs miner new supply — multiples of weekly issuance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BTC Supply Shock Analysis  |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Sources: Glassnode  ·  STRC.live  ·  Strategy.com  ·  SEC 8-K Filings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48640" y="1280160"/>
          <a:ext cx="713232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41148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E7D32"/>
                </a:solidFill>
                <a:latin typeface="Calibri"/>
              </a:defRPr>
            </a:pPr>
            <a:r>
              <a:t>Green dashed = Miner new issuance: 3,150 BTC/week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280160"/>
            <a:ext cx="3566160" cy="3657600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46304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CC0000"/>
                </a:solidFill>
                <a:latin typeface="Calibri"/>
              </a:defRPr>
            </a:pPr>
            <a:r>
              <a:t>The Math</a:t>
            </a:r>
          </a:p>
          <a:p>
            <a:pPr>
              <a:spcBef>
                <a:spcPts val="400"/>
              </a:spcBef>
              <a:defRPr sz="800" b="0" i="0">
                <a:solidFill>
                  <a:srgbClr val="2D2D2D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1" i="0">
                <a:solidFill>
                  <a:srgbClr val="7A7A7A"/>
                </a:solidFill>
                <a:latin typeface="Calibri"/>
              </a:defRPr>
            </a:pPr>
            <a:r>
              <a:t>Miner Weekly Output:</a:t>
            </a:r>
          </a:p>
          <a:p>
            <a:pPr>
              <a:spcBef>
                <a:spcPts val="400"/>
              </a:spcBef>
              <a:defRPr sz="1800" b="1" i="0">
                <a:solidFill>
                  <a:srgbClr val="2E7D32"/>
                </a:solidFill>
                <a:latin typeface="Calibri"/>
              </a:defRPr>
            </a:pPr>
            <a:r>
              <a:t>3,150 BTC/week</a:t>
            </a:r>
          </a:p>
          <a:p>
            <a:pPr>
              <a:spcBef>
                <a:spcPts val="400"/>
              </a:spcBef>
              <a:defRPr sz="800" b="0" i="0">
                <a:solidFill>
                  <a:srgbClr val="2D2D2D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1" i="0">
                <a:solidFill>
                  <a:srgbClr val="7A7A7A"/>
                </a:solidFill>
                <a:latin typeface="Calibri"/>
              </a:defRPr>
            </a:pPr>
            <a:r>
              <a:t>Strategy Peak Week:</a:t>
            </a:r>
          </a:p>
          <a:p>
            <a:pPr>
              <a:spcBef>
                <a:spcPts val="400"/>
              </a:spcBef>
              <a:defRPr sz="1800" b="1" i="0">
                <a:solidFill>
                  <a:srgbClr val="F7931A"/>
                </a:solidFill>
                <a:latin typeface="Calibri"/>
              </a:defRPr>
            </a:pPr>
            <a:r>
              <a:t>34,164 BTC</a:t>
            </a:r>
          </a:p>
          <a:p>
            <a:pPr>
              <a:spcBef>
                <a:spcPts val="400"/>
              </a:spcBef>
              <a:defRPr sz="1200" b="1" i="0">
                <a:solidFill>
                  <a:srgbClr val="E02B20"/>
                </a:solidFill>
                <a:latin typeface="Calibri"/>
              </a:defRPr>
            </a:pPr>
            <a:r>
              <a:t>= 10.8x issuance</a:t>
            </a:r>
          </a:p>
          <a:p>
            <a:pPr>
              <a:spcBef>
                <a:spcPts val="400"/>
              </a:spcBef>
              <a:defRPr sz="800" b="0" i="0">
                <a:solidFill>
                  <a:srgbClr val="2D2D2D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1" i="0">
                <a:solidFill>
                  <a:srgbClr val="7A7A7A"/>
                </a:solidFill>
                <a:latin typeface="Calibri"/>
              </a:defRPr>
            </a:pPr>
            <a:r>
              <a:t>Strategy Avg Active:</a:t>
            </a:r>
          </a:p>
          <a:p>
            <a:pPr>
              <a:spcBef>
                <a:spcPts val="400"/>
              </a:spcBef>
              <a:defRPr sz="1800" b="1" i="0">
                <a:solidFill>
                  <a:srgbClr val="F7931A"/>
                </a:solidFill>
                <a:latin typeface="Calibri"/>
              </a:defRPr>
            </a:pPr>
            <a:r>
              <a:t>~14,000 BTC</a:t>
            </a:r>
          </a:p>
          <a:p>
            <a:pPr>
              <a:spcBef>
                <a:spcPts val="400"/>
              </a:spcBef>
              <a:defRPr sz="1200" b="1" i="0">
                <a:solidFill>
                  <a:srgbClr val="E02B20"/>
                </a:solidFill>
                <a:latin typeface="Calibri"/>
              </a:defRPr>
            </a:pPr>
            <a:r>
              <a:t>= 4.4x issuance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solidFill>
            <a:srgbClr val="FFF0F0"/>
          </a:solidFill>
          <a:ln w="9525">
            <a:solidFill>
              <a:srgbClr val="E02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303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CC0000"/>
                </a:solidFill>
                <a:latin typeface="Calibri"/>
              </a:defRPr>
            </a:pPr>
            <a:r>
              <a:t>Key Insight</a:t>
            </a:r>
          </a:p>
          <a:p>
            <a:pPr>
              <a:spcBef>
                <a:spcPts val="4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Strategy alone absorbs 3-10x more BTC per week than miners produce. Add Strive, ETF inflows, and organic self-custody outflows —</a:t>
            </a:r>
          </a:p>
          <a:p>
            <a:pPr>
              <a:spcBef>
                <a:spcPts val="4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the net drain on exchange-available supply is accelerating faster than at any point in Bitcoin's history. This is structurally unprecedented.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CC0000"/>
                </a:solidFill>
                <a:latin typeface="Calibri"/>
              </a:defRPr>
            </a:pPr>
            <a:r>
              <a:t>Supply Shock Severity Levels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2286000" cy="3657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What happens when exchange supply drops below critical thresholds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BTC Supply Shock Analysis  |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Sources: Glassnode  ·  STRC.live  ·  Strategy.com  ·  SEC 8-K Filings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110642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371600"/>
            <a:ext cx="109728" cy="100584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CC9900"/>
                </a:solidFill>
                <a:latin typeface="Calibri"/>
              </a:defRPr>
            </a:pPr>
            <a:r>
              <a:t>ELEVATED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87451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&lt; 2.5M BTC (12.5%)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50876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4A4A4A"/>
                </a:solidFill>
                <a:latin typeface="Calibri"/>
              </a:defRPr>
            </a:pPr>
            <a:r>
              <a:t>Reduced liquidity. Larger orders cause slippage. Price becomes more sensitive to demand spikes. Early warning stage.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560320"/>
            <a:ext cx="110642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560320"/>
            <a:ext cx="109728" cy="10058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6517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68A00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0632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&lt; 2.0M BTC (10.0%)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697479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4A4A4A"/>
                </a:solidFill>
                <a:latin typeface="Calibri"/>
              </a:defRPr>
            </a:pPr>
            <a:r>
              <a:t>Significant supply constraint. OTC desks struggle to fill large orders. Bid-ask spreads widen. Institutional buyers compete for shrinking float.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49039"/>
            <a:ext cx="110642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749039"/>
            <a:ext cx="109728" cy="1005840"/>
          </a:xfrm>
          <a:prstGeom prst="rect">
            <a:avLst/>
          </a:prstGeom>
          <a:solidFill>
            <a:srgbClr val="E04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840479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04500"/>
                </a:solidFill>
                <a:latin typeface="Calibri"/>
              </a:defRPr>
            </a:pPr>
            <a:r>
              <a:t>SEVERE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25195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&lt; 1.5M BTC (7.5%)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88620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4A4A4A"/>
                </a:solidFill>
                <a:latin typeface="Calibri"/>
              </a:defRPr>
            </a:pPr>
            <a:r>
              <a:t>Critical supply shortage. Exchange order books thin dramatically. Small purchases create outsized price moves. Resembles 2017 pre-parabolic conditions.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937760"/>
            <a:ext cx="110642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2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937760"/>
            <a:ext cx="109728" cy="1005840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029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02B20"/>
                </a:solidFill>
                <a:latin typeface="Calibri"/>
              </a:defRPr>
            </a:pPr>
            <a:r>
              <a:t>NUCLEAR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440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&lt; 1.0M BTC (5.0%)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07492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4A4A4A"/>
                </a:solidFill>
                <a:latin typeface="Calibri"/>
              </a:defRPr>
            </a:pPr>
            <a:r>
              <a:t>Unprecedented territory. Functional supply crisis. Sellers must be incentivized at dramatically higher prices. Potential for parabolic, reflexive price discovery.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6217920"/>
            <a:ext cx="11064240" cy="1828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172200"/>
            <a:ext cx="11064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CC0000"/>
                </a:solidFill>
                <a:latin typeface="Calibri"/>
              </a:defRPr>
            </a:pPr>
            <a:r>
              <a:t>Current: 2.97M BTC on exchanges (14.85%)  —  Shock Score: 25/100  —  approaching "Elevated" territory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CC0000"/>
                </a:solidFill>
                <a:latin typeface="Calibri"/>
              </a:defRPr>
            </a:pPr>
            <a:r>
              <a:t>Nuclear Supply Shock Forecast — Scenario Projections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2286000" cy="3657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BTC Supply Shock Analysis  |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Sources: Glassnode  ·  STRC.live  ·  Strategy.com  ·  SEC 8-K Filings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097280"/>
            <a:ext cx="1828800" cy="38404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15214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Scenario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1097280"/>
            <a:ext cx="1737360" cy="38404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11521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Strategy Buy/wk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097280"/>
            <a:ext cx="1645920" cy="38404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1521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Net Drain/wk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097280"/>
            <a:ext cx="1371600" cy="38404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59" y="11521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Time to Shock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1097280"/>
            <a:ext cx="1463040" cy="38404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59" y="11521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Projected 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1097280"/>
            <a:ext cx="1371600" cy="38404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11521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Exchange Bal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097280"/>
            <a:ext cx="1371600" cy="38404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0" y="11521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Severity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1600200"/>
            <a:ext cx="18288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16916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D2D2D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1600200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16916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5,600 BTC/wk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1600200"/>
            <a:ext cx="1645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0" y="16916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2,290 BTC/wk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60720" y="1600200"/>
            <a:ext cx="1371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52159" y="16916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115 weeks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0" y="1600200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59" y="16916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Aug 2028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95360" y="1600200"/>
            <a:ext cx="1371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0" y="16916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&lt; 2.0M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66960" y="1600200"/>
            <a:ext cx="1371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0" y="16916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68A00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2103120"/>
            <a:ext cx="1828800" cy="47548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21945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D2D2D"/>
                </a:solidFill>
                <a:latin typeface="Calibri"/>
              </a:defRPr>
            </a:pPr>
            <a:r>
              <a:t>Base Case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77440" y="2103120"/>
            <a:ext cx="1737360" cy="47548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68880" y="219456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14,000 BTC/wk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2103120"/>
            <a:ext cx="1645920" cy="47548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40" y="21945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13,200 BTC/wk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60720" y="2103120"/>
            <a:ext cx="1371600" cy="47548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52159" y="21945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86 weeks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32320" y="2103120"/>
            <a:ext cx="1463040" cy="47548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59" y="21945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Jan 2028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95360" y="2103120"/>
            <a:ext cx="1371600" cy="47548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0" y="21945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&lt; 1.0M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966960" y="2103120"/>
            <a:ext cx="1371600" cy="47548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58400" y="21945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02B20"/>
                </a:solidFill>
                <a:latin typeface="Calibri"/>
              </a:defRPr>
            </a:pPr>
            <a:r>
              <a:t>NUCLEAR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2606040"/>
            <a:ext cx="18288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2697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D2D2D"/>
                </a:solidFill>
                <a:latin typeface="Calibri"/>
              </a:defRPr>
            </a:pPr>
            <a:r>
              <a:t>Bull Case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2606040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0" y="2697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21,000 BTC/wk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0" y="2606040"/>
            <a:ext cx="1645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6240" y="26974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21,825 BTC/wk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60720" y="2606040"/>
            <a:ext cx="1371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159" y="26974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63 weeks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32320" y="2606040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23759" y="269748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Aug 2027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95360" y="2606040"/>
            <a:ext cx="1371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86800" y="26974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&lt; 1.0M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966960" y="2606040"/>
            <a:ext cx="1371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58400" y="26974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02B20"/>
                </a:solidFill>
                <a:latin typeface="Calibri"/>
              </a:defRPr>
            </a:pPr>
            <a:r>
              <a:t>NUCLEAR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8640" y="3108960"/>
            <a:ext cx="1828800" cy="47548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080" y="32004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D2D2D"/>
                </a:solidFill>
                <a:latin typeface="Calibri"/>
              </a:defRPr>
            </a:pPr>
            <a:r>
              <a:t>Hyper Bull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377440" y="3108960"/>
            <a:ext cx="1737360" cy="47548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68880" y="32004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35,000 BTC/wk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0" y="3108960"/>
            <a:ext cx="1645920" cy="47548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06240" y="32004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39,475 BTC/wk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760720" y="3108960"/>
            <a:ext cx="1371600" cy="47548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52159" y="32004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41 weeks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132320" y="3108960"/>
            <a:ext cx="1463040" cy="47548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223759" y="32004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Mar 2027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595360" y="3108960"/>
            <a:ext cx="1371600" cy="47548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686800" y="32004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&lt; 1.0M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966960" y="3108960"/>
            <a:ext cx="1371600" cy="475488"/>
          </a:xfrm>
          <a:prstGeom prst="rect">
            <a:avLst/>
          </a:prstGeom>
          <a:solidFill>
            <a:srgbClr val="F5F5F5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058400" y="32004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02B20"/>
                </a:solidFill>
                <a:latin typeface="Calibri"/>
              </a:defRPr>
            </a:pPr>
            <a:r>
              <a:t>NUCLEAR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8640" y="3291840"/>
            <a:ext cx="11064240" cy="32004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31520" y="3337560"/>
            <a:ext cx="10698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MODEL ASSUMPTIONS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49039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A7A7A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Starting exchange balance: 2,970,000 BTC  |  New issuance: 3,150 BTC/week  |  Organic outflow: 4,000 BTC/week  |  Inflow: 2,500 BTC/week</a:t>
            </a:r>
          </a:p>
          <a:p>
            <a:pPr>
              <a:spcBef>
                <a:spcPts val="400"/>
              </a:spcBef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Strategy buy acceleration: 5%/month compounding  |  Strive: 350 BTC/week  |  New corporate entrants: 500 BTC/week</a:t>
            </a:r>
          </a:p>
          <a:p>
            <a:pPr>
              <a:spcBef>
                <a:spcPts val="400"/>
              </a:spcBef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"Nuclear" threshold: &lt; 1,000,000 BTC (5%)  |  Model does NOT account for ETF flows, sovereign purchases, or demand destruction from price increases</a:t>
            </a:r>
          </a:p>
          <a:p>
            <a:pPr>
              <a:spcBef>
                <a:spcPts val="400"/>
              </a:spcBef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Conservative: 40% of current rate  |  Base: current sustained  |  Bull: 1.5x  |  Hyper Bull: 2.5x (Strategy reaches 1M BTC target)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48640" y="5303520"/>
            <a:ext cx="11064240" cy="1005840"/>
          </a:xfrm>
          <a:prstGeom prst="rect">
            <a:avLst/>
          </a:prstGeom>
          <a:solidFill>
            <a:srgbClr val="FFF0F0"/>
          </a:solidFill>
          <a:ln w="9525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2960" y="5394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CC0000"/>
                </a:solidFill>
                <a:latin typeface="Calibri"/>
              </a:defRPr>
            </a:pPr>
            <a:r>
              <a:t>Bottom Line</a:t>
            </a:r>
          </a:p>
          <a:p>
            <a:pPr>
              <a:spcBef>
                <a:spcPts val="400"/>
              </a:spcBef>
              <a:defRPr sz="1300" b="0" i="0">
                <a:solidFill>
                  <a:srgbClr val="4A4A4A"/>
                </a:solidFill>
                <a:latin typeface="Calibri"/>
              </a:defRPr>
            </a:pPr>
            <a:r>
              <a:t>Even the conservative case projects exchange balance hitting "High" shock territory by mid-2028. The base case reaches nuclear</a:t>
            </a:r>
          </a:p>
          <a:p>
            <a:pPr>
              <a:spcBef>
                <a:spcPts val="400"/>
              </a:spcBef>
              <a:defRPr sz="1300" b="0" i="0">
                <a:solidFill>
                  <a:srgbClr val="4A4A4A"/>
                </a:solidFill>
                <a:latin typeface="Calibri"/>
              </a:defRPr>
            </a:pPr>
            <a:r>
              <a:t>by January 2028. The April 2028 halving would compound this by cutting new issuance by 50%.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CC0000"/>
                </a:solidFill>
                <a:latin typeface="Calibri"/>
              </a:defRPr>
            </a:pPr>
            <a:r>
              <a:t>Projected Timeline to Nuclear Supply Shock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2286000" cy="3657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BTC Supply Shock Analysis  |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BBBBBB"/>
                </a:solidFill>
                <a:latin typeface="Calibri"/>
              </a:defRPr>
            </a:pPr>
            <a:r>
              <a:t>Sources: Glassnode  ·  STRC.live  ·  Strategy.com  ·  SEC 8-K Filings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743200"/>
            <a:ext cx="10698480" cy="73152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73152" cy="10058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155448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CC0000"/>
                </a:solidFill>
                <a:latin typeface="Calibri"/>
              </a:defRPr>
            </a:pPr>
            <a:r>
              <a:t>NOW</a:t>
            </a:r>
            <a:br/>
            <a:r>
              <a:t>Jun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2.97M BTC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286000"/>
            <a:ext cx="73152" cy="1005840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155448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E02B20"/>
                </a:solidFill>
                <a:latin typeface="Calibri"/>
              </a:defRPr>
            </a:pPr>
            <a:r>
              <a:t>HYPER BULL</a:t>
            </a:r>
            <a:br/>
            <a:r>
              <a:t>Mar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29260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41 weeks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2286000"/>
            <a:ext cx="73152" cy="10058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55448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E68A00"/>
                </a:solidFill>
                <a:latin typeface="Calibri"/>
              </a:defRPr>
            </a:pPr>
            <a:r>
              <a:t>BULL CASE</a:t>
            </a:r>
            <a:br/>
            <a:r>
              <a:t>Aug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9260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63 weeks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2286000"/>
            <a:ext cx="73152" cy="100584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155448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CC9900"/>
                </a:solidFill>
                <a:latin typeface="Calibri"/>
              </a:defRPr>
            </a:pPr>
            <a:r>
              <a:t>BASE CASE</a:t>
            </a:r>
            <a:br/>
            <a:r>
              <a:t>Jan 2028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9260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86 weeks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20" y="2286000"/>
            <a:ext cx="731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0" y="155448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2E7D32"/>
                </a:solidFill>
                <a:latin typeface="Calibri"/>
              </a:defRPr>
            </a:pPr>
            <a:r>
              <a:t>CONSERVATIVE</a:t>
            </a:r>
            <a:br/>
            <a:r>
              <a:t>Aug 2028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9260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115 weeks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2286000"/>
            <a:ext cx="54864" cy="1005840"/>
          </a:xfrm>
          <a:prstGeom prst="rect">
            <a:avLst/>
          </a:prstGeom>
          <a:solidFill>
            <a:srgbClr val="0037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2926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003776"/>
                </a:solidFill>
                <a:latin typeface="Calibri"/>
              </a:defRPr>
            </a:pPr>
            <a:r>
              <a:t>HALVING</a:t>
            </a:r>
            <a:br/>
            <a:r>
              <a:t>Apr 2028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840480"/>
            <a:ext cx="5303520" cy="2468880"/>
          </a:xfrm>
          <a:prstGeom prst="rect">
            <a:avLst/>
          </a:prstGeom>
          <a:solidFill>
            <a:srgbClr val="F5F5F5"/>
          </a:solidFill>
          <a:ln w="9525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977639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C0000"/>
                </a:solidFill>
                <a:latin typeface="Calibri"/>
              </a:defRPr>
            </a:pPr>
            <a:r>
              <a:t>Accelerating Factors</a:t>
            </a:r>
          </a:p>
          <a:p>
            <a:pPr>
              <a:spcBef>
                <a:spcPts val="400"/>
              </a:spcBef>
              <a:defRPr sz="400" b="0" i="0">
                <a:solidFill>
                  <a:srgbClr val="2D2D2D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Strategy targeting 1M BTC (~6,158/wk needed)</a:t>
            </a:r>
          </a:p>
          <a:p>
            <a:pPr>
              <a:spcBef>
                <a:spcPts val="4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STRC ATM scaling — $2B/week and growing</a:t>
            </a:r>
          </a:p>
          <a:p>
            <a:pPr>
              <a:spcBef>
                <a:spcPts val="4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Strive SATA launching daily dividends Jun 16</a:t>
            </a:r>
          </a:p>
          <a:p>
            <a:pPr>
              <a:spcBef>
                <a:spcPts val="4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Other corporate treasuries entering the space</a:t>
            </a:r>
          </a:p>
          <a:p>
            <a:pPr>
              <a:spcBef>
                <a:spcPts val="4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ETF inflows resume in risk-on environment</a:t>
            </a:r>
          </a:p>
          <a:p>
            <a:pPr>
              <a:spcBef>
                <a:spcPts val="4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April 2028 halving cuts issuance by 50%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840480"/>
            <a:ext cx="5394960" cy="2468880"/>
          </a:xfrm>
          <a:prstGeom prst="rect">
            <a:avLst/>
          </a:prstGeom>
          <a:solidFill>
            <a:srgbClr val="F5F5F5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977639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2E7D32"/>
                </a:solidFill>
                <a:latin typeface="Calibri"/>
              </a:defRPr>
            </a:pPr>
            <a:r>
              <a:t>Decelerating Factors</a:t>
            </a:r>
          </a:p>
          <a:p>
            <a:pPr>
              <a:spcBef>
                <a:spcPts val="400"/>
              </a:spcBef>
              <a:defRPr sz="400" b="0" i="0">
                <a:solidFill>
                  <a:srgbClr val="2D2D2D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Rising BTC price increases acquisition cost</a:t>
            </a:r>
          </a:p>
          <a:p>
            <a:pPr>
              <a:spcBef>
                <a:spcPts val="4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Strategy debt load ($8B+) limits future borrowing</a:t>
            </a:r>
          </a:p>
          <a:p>
            <a:pPr>
              <a:spcBef>
                <a:spcPts val="4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Potential regulatory intervention</a:t>
            </a:r>
          </a:p>
          <a:p>
            <a:pPr>
              <a:spcBef>
                <a:spcPts val="4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Market sell-offs / risk-off environments</a:t>
            </a:r>
          </a:p>
          <a:p>
            <a:pPr>
              <a:spcBef>
                <a:spcPts val="4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STRC/SATA dividend obligations ($1B+/yr)</a:t>
            </a:r>
          </a:p>
          <a:p>
            <a:pPr>
              <a:spcBef>
                <a:spcPts val="400"/>
              </a:spcBef>
              <a:defRPr sz="1200" b="0" i="0">
                <a:solidFill>
                  <a:srgbClr val="4A4A4A"/>
                </a:solidFill>
                <a:latin typeface="Calibri"/>
              </a:defRPr>
            </a:pPr>
            <a:r>
              <a:t>Profit-taking at higher price levels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91695" cy="109728"/>
          </a:xfrm>
          <a:prstGeom prst="rect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5486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 i="0">
                <a:solidFill>
                  <a:srgbClr val="FFFFFF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FFCCCC"/>
                </a:solidFill>
                <a:latin typeface="Calibri"/>
              </a:defRPr>
            </a:pPr>
            <a:r>
              <a:t>Five structural factors converging toward a BTC supply shock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926080"/>
            <a:ext cx="502920" cy="548640"/>
          </a:xfrm>
          <a:prstGeom prst="rect">
            <a:avLst/>
          </a:prstGeom>
          <a:solidFill>
            <a:srgbClr val="E0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9923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944368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2D2D2D"/>
                </a:solidFill>
                <a:latin typeface="Calibri"/>
              </a:defRPr>
            </a:pPr>
            <a:r>
              <a:t>Exchange supply is in structural decline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24612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Only 14.85% of BTC remains on exchanges, down from 16%+ in 2022. The trend is resuming downward.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639312"/>
            <a:ext cx="502920" cy="54864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1246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6576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2D2D2D"/>
                </a:solidFill>
                <a:latin typeface="Calibri"/>
              </a:defRPr>
            </a:pPr>
            <a:r>
              <a:t>Corporate demand exceeds new supply by multiples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95935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Strategy buys 3-10x what miners produce weekly. STRC has industrialized equity-to-BTC conversion.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352544"/>
            <a:ext cx="502920" cy="54864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2569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370831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2D2D2D"/>
                </a:solidFill>
                <a:latin typeface="Calibri"/>
              </a:defRPr>
            </a:pPr>
            <a:r>
              <a:t>Two preferred instruments are accelerating the drain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672583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STRC ($10.5B) and SATA (13% daily yield) are new financial primitives — equity-to-BTC engines.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5065776"/>
            <a:ext cx="502920" cy="5486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13892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084064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2D2D2D"/>
                </a:solidFill>
                <a:latin typeface="Calibri"/>
              </a:defRPr>
            </a:pPr>
            <a:r>
              <a:t>Nuclear supply shock projected within 12-24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385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Base case: Jan 2028. Bull case: Aug 2027. Even conservative estimates show critical levels by mid-2028.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5779008"/>
            <a:ext cx="502920" cy="548640"/>
          </a:xfrm>
          <a:prstGeom prst="rect">
            <a:avLst/>
          </a:prstGeom>
          <a:solidFill>
            <a:srgbClr val="0037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85216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79729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2D2D2D"/>
                </a:solidFill>
                <a:latin typeface="Calibri"/>
              </a:defRPr>
            </a:pPr>
            <a:r>
              <a:t>The April 2028 halving is a force multiplier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6099048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Issuance drops from 3,150 to ~1,575 BTC/week, making the supply deficit even more acute.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BBBBBB"/>
                </a:solidFill>
                <a:latin typeface="Calibri"/>
              </a:defRPr>
            </a:pPr>
            <a:r>
              <a:t>Sources: Glassnode  |  STRC.live  |  Strategy.com  |  Strive IR  |  SEC 8-K Filings  |  CoinDesk  |  Bitbo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