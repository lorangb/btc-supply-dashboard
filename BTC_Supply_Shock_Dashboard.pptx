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STRC Preferred</c:v>
                </c:pt>
              </c:strCache>
            </c:strRef>
          </c:tx>
          <c:spPr>
            <a:solidFill>
              <a:srgbClr val="BF5AF2"/>
            </a:solidFill>
          </c:spPr>
          <c:cat>
            <c:strRef>
              <c:f>Sheet1!$A$2:$A$22</c:f>
              <c:strCache>
                <c:ptCount val="21"/>
                <c:pt idx="0">
                  <c:v>Jan 5</c:v>
                </c:pt>
                <c:pt idx="1">
                  <c:v>Jan 12</c:v>
                </c:pt>
                <c:pt idx="2">
                  <c:v>Jan 19</c:v>
                </c:pt>
                <c:pt idx="3">
                  <c:v>Jan 26</c:v>
                </c:pt>
                <c:pt idx="4">
                  <c:v>Feb 2</c:v>
                </c:pt>
                <c:pt idx="5">
                  <c:v>Feb 9</c:v>
                </c:pt>
                <c:pt idx="6">
                  <c:v>Feb 16</c:v>
                </c:pt>
                <c:pt idx="7">
                  <c:v>Feb 23</c:v>
                </c:pt>
                <c:pt idx="8">
                  <c:v>Mar 2</c:v>
                </c:pt>
                <c:pt idx="9">
                  <c:v>Mar 9</c:v>
                </c:pt>
                <c:pt idx="10">
                  <c:v>Mar 16</c:v>
                </c:pt>
                <c:pt idx="11">
                  <c:v>Mar 23</c:v>
                </c:pt>
                <c:pt idx="12">
                  <c:v>Mar 30</c:v>
                </c:pt>
                <c:pt idx="13">
                  <c:v>Apr 6</c:v>
                </c:pt>
                <c:pt idx="14">
                  <c:v>Apr 13</c:v>
                </c:pt>
                <c:pt idx="15">
                  <c:v>Apr 20</c:v>
                </c:pt>
                <c:pt idx="16">
                  <c:v>Apr 27</c:v>
                </c:pt>
                <c:pt idx="17">
                  <c:v>May 4</c:v>
                </c:pt>
                <c:pt idx="18">
                  <c:v>May 11</c:v>
                </c:pt>
                <c:pt idx="19">
                  <c:v>May 18</c:v>
                </c:pt>
                <c:pt idx="20">
                  <c:v>May 25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800</c:v>
                </c:pt>
                <c:pt idx="2">
                  <c:v>4500</c:v>
                </c:pt>
                <c:pt idx="3">
                  <c:v>4200</c:v>
                </c:pt>
                <c:pt idx="4">
                  <c:v>3200</c:v>
                </c:pt>
                <c:pt idx="5">
                  <c:v>4100</c:v>
                </c:pt>
                <c:pt idx="6">
                  <c:v>1500</c:v>
                </c:pt>
                <c:pt idx="7">
                  <c:v>9800</c:v>
                </c:pt>
                <c:pt idx="8">
                  <c:v>1200</c:v>
                </c:pt>
                <c:pt idx="9">
                  <c:v>8500</c:v>
                </c:pt>
                <c:pt idx="10">
                  <c:v>10767</c:v>
                </c:pt>
                <c:pt idx="11">
                  <c:v>0</c:v>
                </c:pt>
                <c:pt idx="12">
                  <c:v>0</c:v>
                </c:pt>
                <c:pt idx="13">
                  <c:v>2100</c:v>
                </c:pt>
                <c:pt idx="14">
                  <c:v>7500</c:v>
                </c:pt>
                <c:pt idx="15">
                  <c:v>18000</c:v>
                </c:pt>
                <c:pt idx="16">
                  <c:v>1000</c:v>
                </c:pt>
                <c:pt idx="17">
                  <c:v>0</c:v>
                </c:pt>
                <c:pt idx="18">
                  <c:v>200</c:v>
                </c:pt>
                <c:pt idx="19">
                  <c:v>20000</c:v>
                </c:pt>
                <c:pt idx="2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MSTR Equity / Other</c:v>
                </c:pt>
              </c:strCache>
            </c:strRef>
          </c:tx>
          <c:spPr>
            <a:solidFill>
              <a:srgbClr val="F7931A"/>
            </a:solidFill>
          </c:spPr>
          <c:cat>
            <c:strRef>
              <c:f>Sheet1!$A$2:$A$22</c:f>
              <c:strCache>
                <c:ptCount val="21"/>
                <c:pt idx="0">
                  <c:v>Jan 5</c:v>
                </c:pt>
                <c:pt idx="1">
                  <c:v>Jan 12</c:v>
                </c:pt>
                <c:pt idx="2">
                  <c:v>Jan 19</c:v>
                </c:pt>
                <c:pt idx="3">
                  <c:v>Jan 26</c:v>
                </c:pt>
                <c:pt idx="4">
                  <c:v>Feb 2</c:v>
                </c:pt>
                <c:pt idx="5">
                  <c:v>Feb 9</c:v>
                </c:pt>
                <c:pt idx="6">
                  <c:v>Feb 16</c:v>
                </c:pt>
                <c:pt idx="7">
                  <c:v>Feb 23</c:v>
                </c:pt>
                <c:pt idx="8">
                  <c:v>Mar 2</c:v>
                </c:pt>
                <c:pt idx="9">
                  <c:v>Mar 9</c:v>
                </c:pt>
                <c:pt idx="10">
                  <c:v>Mar 16</c:v>
                </c:pt>
                <c:pt idx="11">
                  <c:v>Mar 23</c:v>
                </c:pt>
                <c:pt idx="12">
                  <c:v>Mar 30</c:v>
                </c:pt>
                <c:pt idx="13">
                  <c:v>Apr 6</c:v>
                </c:pt>
                <c:pt idx="14">
                  <c:v>Apr 13</c:v>
                </c:pt>
                <c:pt idx="15">
                  <c:v>Apr 20</c:v>
                </c:pt>
                <c:pt idx="16">
                  <c:v>Apr 27</c:v>
                </c:pt>
                <c:pt idx="17">
                  <c:v>May 4</c:v>
                </c:pt>
                <c:pt idx="18">
                  <c:v>May 11</c:v>
                </c:pt>
                <c:pt idx="19">
                  <c:v>May 18</c:v>
                </c:pt>
                <c:pt idx="20">
                  <c:v>May 25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1468</c:v>
                </c:pt>
                <c:pt idx="1">
                  <c:v>1730</c:v>
                </c:pt>
                <c:pt idx="2">
                  <c:v>6500</c:v>
                </c:pt>
                <c:pt idx="3">
                  <c:v>5907</c:v>
                </c:pt>
                <c:pt idx="4">
                  <c:v>4433</c:v>
                </c:pt>
                <c:pt idx="5">
                  <c:v>2955</c:v>
                </c:pt>
                <c:pt idx="6">
                  <c:v>1500</c:v>
                </c:pt>
                <c:pt idx="7">
                  <c:v>10556</c:v>
                </c:pt>
                <c:pt idx="8">
                  <c:v>1815</c:v>
                </c:pt>
                <c:pt idx="9">
                  <c:v>9494</c:v>
                </c:pt>
                <c:pt idx="10">
                  <c:v>11570</c:v>
                </c:pt>
                <c:pt idx="11">
                  <c:v>0</c:v>
                </c:pt>
                <c:pt idx="12">
                  <c:v>0</c:v>
                </c:pt>
                <c:pt idx="13">
                  <c:v>2771</c:v>
                </c:pt>
                <c:pt idx="14">
                  <c:v>6427</c:v>
                </c:pt>
                <c:pt idx="15">
                  <c:v>16164</c:v>
                </c:pt>
                <c:pt idx="16">
                  <c:v>2273</c:v>
                </c:pt>
                <c:pt idx="17">
                  <c:v>0</c:v>
                </c:pt>
                <c:pt idx="18">
                  <c:v>335</c:v>
                </c:pt>
                <c:pt idx="19">
                  <c:v>4869</c:v>
                </c:pt>
                <c:pt idx="20">
                  <c:v>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88888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2222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8888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88888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 on Exchanges (M)</c:v>
                </c:pt>
              </c:strCache>
            </c:strRef>
          </c:tx>
          <c:spPr>
            <a:ln w="31750">
              <a:solidFill>
                <a:srgbClr val="FF3B30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2020-01</c:v>
                </c:pt>
                <c:pt idx="1">
                  <c:v>2020-06</c:v>
                </c:pt>
                <c:pt idx="2">
                  <c:v>2020-12</c:v>
                </c:pt>
                <c:pt idx="3">
                  <c:v>2021-03</c:v>
                </c:pt>
                <c:pt idx="4">
                  <c:v>2021-06</c:v>
                </c:pt>
                <c:pt idx="5">
                  <c:v>2021-09</c:v>
                </c:pt>
                <c:pt idx="6">
                  <c:v>2021-12</c:v>
                </c:pt>
                <c:pt idx="7">
                  <c:v>2022-03</c:v>
                </c:pt>
                <c:pt idx="8">
                  <c:v>2022-06</c:v>
                </c:pt>
                <c:pt idx="9">
                  <c:v>2022-09</c:v>
                </c:pt>
                <c:pt idx="10">
                  <c:v>2022-12</c:v>
                </c:pt>
                <c:pt idx="11">
                  <c:v>2023-03</c:v>
                </c:pt>
                <c:pt idx="12">
                  <c:v>2023-06</c:v>
                </c:pt>
                <c:pt idx="13">
                  <c:v>2023-09</c:v>
                </c:pt>
                <c:pt idx="14">
                  <c:v>2023-12</c:v>
                </c:pt>
                <c:pt idx="15">
                  <c:v>2024-03</c:v>
                </c:pt>
                <c:pt idx="16">
                  <c:v>2024-06</c:v>
                </c:pt>
                <c:pt idx="17">
                  <c:v>2024-09</c:v>
                </c:pt>
                <c:pt idx="18">
                  <c:v>2024-12</c:v>
                </c:pt>
                <c:pt idx="19">
                  <c:v>2025-03</c:v>
                </c:pt>
                <c:pt idx="20">
                  <c:v>2025-06</c:v>
                </c:pt>
                <c:pt idx="21">
                  <c:v>2025-09</c:v>
                </c:pt>
                <c:pt idx="22">
                  <c:v>2025-12</c:v>
                </c:pt>
                <c:pt idx="23">
                  <c:v>2026-01</c:v>
                </c:pt>
                <c:pt idx="24">
                  <c:v>2026-02</c:v>
                </c:pt>
                <c:pt idx="25">
                  <c:v>2026-03</c:v>
                </c:pt>
                <c:pt idx="26">
                  <c:v>2026-05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3.1</c:v>
                </c:pt>
                <c:pt idx="1">
                  <c:v>3.05</c:v>
                </c:pt>
                <c:pt idx="2">
                  <c:v>2.9</c:v>
                </c:pt>
                <c:pt idx="3">
                  <c:v>2.8</c:v>
                </c:pt>
                <c:pt idx="4">
                  <c:v>2.65</c:v>
                </c:pt>
                <c:pt idx="5">
                  <c:v>2.55</c:v>
                </c:pt>
                <c:pt idx="6">
                  <c:v>2.6</c:v>
                </c:pt>
                <c:pt idx="7">
                  <c:v>2.55</c:v>
                </c:pt>
                <c:pt idx="8">
                  <c:v>2.5</c:v>
                </c:pt>
                <c:pt idx="9">
                  <c:v>2.45</c:v>
                </c:pt>
                <c:pt idx="10">
                  <c:v>2.4</c:v>
                </c:pt>
                <c:pt idx="11">
                  <c:v>2.38</c:v>
                </c:pt>
                <c:pt idx="12">
                  <c:v>2.35</c:v>
                </c:pt>
                <c:pt idx="13">
                  <c:v>2.3</c:v>
                </c:pt>
                <c:pt idx="14">
                  <c:v>2.35</c:v>
                </c:pt>
                <c:pt idx="15">
                  <c:v>2.32</c:v>
                </c:pt>
                <c:pt idx="16">
                  <c:v>2.8</c:v>
                </c:pt>
                <c:pt idx="17">
                  <c:v>2.9</c:v>
                </c:pt>
                <c:pt idx="18">
                  <c:v>3.05</c:v>
                </c:pt>
                <c:pt idx="19">
                  <c:v>3.1</c:v>
                </c:pt>
                <c:pt idx="20">
                  <c:v>3.08</c:v>
                </c:pt>
                <c:pt idx="21">
                  <c:v>3.05</c:v>
                </c:pt>
                <c:pt idx="22">
                  <c:v>3.02</c:v>
                </c:pt>
                <c:pt idx="23">
                  <c:v>3.0</c:v>
                </c:pt>
                <c:pt idx="24">
                  <c:v>2.98</c:v>
                </c:pt>
                <c:pt idx="25">
                  <c:v>2.97</c:v>
                </c:pt>
                <c:pt idx="26">
                  <c:v>2.97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88888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.5"/>
          <c:min val="1.0"/>
        </c:scaling>
        <c:delete val="0"/>
        <c:axPos val="l"/>
        <c:majorGridlines>
          <c:spPr>
            <a:ln>
              <a:solidFill>
                <a:srgbClr val="22222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888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Buy</c:v>
                </c:pt>
              </c:strCache>
            </c:strRef>
          </c:tx>
          <c:spPr>
            <a:solidFill>
              <a:srgbClr val="F7931A"/>
            </a:solidFill>
          </c:spPr>
          <c:cat>
            <c:strRef>
              <c:f>Sheet1!$A$2:$A$11</c:f>
              <c:strCache>
                <c:ptCount val="10"/>
                <c:pt idx="0">
                  <c:v>Mar 23</c:v>
                </c:pt>
                <c:pt idx="1">
                  <c:v>Mar 30</c:v>
                </c:pt>
                <c:pt idx="2">
                  <c:v>Apr 6</c:v>
                </c:pt>
                <c:pt idx="3">
                  <c:v>Apr 13</c:v>
                </c:pt>
                <c:pt idx="4">
                  <c:v>Apr 20</c:v>
                </c:pt>
                <c:pt idx="5">
                  <c:v>Apr 27</c:v>
                </c:pt>
                <c:pt idx="6">
                  <c:v>May 4</c:v>
                </c:pt>
                <c:pt idx="7">
                  <c:v>May 11</c:v>
                </c:pt>
                <c:pt idx="8">
                  <c:v>May 18</c:v>
                </c:pt>
                <c:pt idx="9">
                  <c:v>May 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4871</c:v>
                </c:pt>
                <c:pt idx="3">
                  <c:v>13927</c:v>
                </c:pt>
                <c:pt idx="4">
                  <c:v>34164</c:v>
                </c:pt>
                <c:pt idx="5">
                  <c:v>3273</c:v>
                </c:pt>
                <c:pt idx="6">
                  <c:v>0</c:v>
                </c:pt>
                <c:pt idx="7">
                  <c:v>535</c:v>
                </c:pt>
                <c:pt idx="8">
                  <c:v>24869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Strive Est.</c:v>
                </c:pt>
              </c:strCache>
            </c:strRef>
          </c:tx>
          <c:spPr>
            <a:solidFill>
              <a:srgbClr val="BF5AF2"/>
            </a:solidFill>
          </c:spPr>
          <c:cat>
            <c:strRef>
              <c:f>Sheet1!$A$2:$A$11</c:f>
              <c:strCache>
                <c:ptCount val="10"/>
                <c:pt idx="0">
                  <c:v>Mar 23</c:v>
                </c:pt>
                <c:pt idx="1">
                  <c:v>Mar 30</c:v>
                </c:pt>
                <c:pt idx="2">
                  <c:v>Apr 6</c:v>
                </c:pt>
                <c:pt idx="3">
                  <c:v>Apr 13</c:v>
                </c:pt>
                <c:pt idx="4">
                  <c:v>Apr 20</c:v>
                </c:pt>
                <c:pt idx="5">
                  <c:v>Apr 27</c:v>
                </c:pt>
                <c:pt idx="6">
                  <c:v>May 4</c:v>
                </c:pt>
                <c:pt idx="7">
                  <c:v>May 11</c:v>
                </c:pt>
                <c:pt idx="8">
                  <c:v>May 18</c:v>
                </c:pt>
                <c:pt idx="9">
                  <c:v>May 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350</c:v>
                </c:pt>
                <c:pt idx="1">
                  <c:v>350</c:v>
                </c:pt>
                <c:pt idx="2">
                  <c:v>350</c:v>
                </c:pt>
                <c:pt idx="3">
                  <c:v>350</c:v>
                </c:pt>
                <c:pt idx="4">
                  <c:v>350</c:v>
                </c:pt>
                <c:pt idx="5">
                  <c:v>350</c:v>
                </c:pt>
                <c:pt idx="6">
                  <c:v>350</c:v>
                </c:pt>
                <c:pt idx="7">
                  <c:v>350</c:v>
                </c:pt>
                <c:pt idx="8">
                  <c:v>350</c:v>
                </c:pt>
                <c:pt idx="9">
                  <c:v>350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Issuance (miners)</c:v>
                </c:pt>
              </c:strCache>
            </c:strRef>
          </c:tx>
          <c:spPr>
            <a:solidFill>
              <a:srgbClr val="30D158"/>
            </a:solidFill>
          </c:spPr>
          <c:cat>
            <c:strRef>
              <c:f>Sheet1!$A$2:$A$11</c:f>
              <c:strCache>
                <c:ptCount val="10"/>
                <c:pt idx="0">
                  <c:v>Mar 23</c:v>
                </c:pt>
                <c:pt idx="1">
                  <c:v>Mar 30</c:v>
                </c:pt>
                <c:pt idx="2">
                  <c:v>Apr 6</c:v>
                </c:pt>
                <c:pt idx="3">
                  <c:v>Apr 13</c:v>
                </c:pt>
                <c:pt idx="4">
                  <c:v>Apr 20</c:v>
                </c:pt>
                <c:pt idx="5">
                  <c:v>Apr 27</c:v>
                </c:pt>
                <c:pt idx="6">
                  <c:v>May 4</c:v>
                </c:pt>
                <c:pt idx="7">
                  <c:v>May 11</c:v>
                </c:pt>
                <c:pt idx="8">
                  <c:v>May 18</c:v>
                </c:pt>
                <c:pt idx="9">
                  <c:v>May 25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3150</c:v>
                </c:pt>
                <c:pt idx="1">
                  <c:v>3150</c:v>
                </c:pt>
                <c:pt idx="2">
                  <c:v>3150</c:v>
                </c:pt>
                <c:pt idx="3">
                  <c:v>3150</c:v>
                </c:pt>
                <c:pt idx="4">
                  <c:v>3150</c:v>
                </c:pt>
                <c:pt idx="5">
                  <c:v>3150</c:v>
                </c:pt>
                <c:pt idx="6">
                  <c:v>3150</c:v>
                </c:pt>
                <c:pt idx="7">
                  <c:v>3150</c:v>
                </c:pt>
                <c:pt idx="8">
                  <c:v>3150</c:v>
                </c:pt>
                <c:pt idx="9">
                  <c:v>3150</c:v>
                </c:pt>
              </c:numCache>
            </c:numRef>
          </c:val>
        </c:ser>
        <c:gapWidth val="10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888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2222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8888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88888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7931A"/>
                </a:solidFill>
                <a:latin typeface="Calibri"/>
              </a:defRPr>
            </a:pPr>
            <a:r>
              <a:t>BTC SUPPLY SHOCK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0E0E0"/>
                </a:solidFill>
                <a:latin typeface="Calibri"/>
              </a:defRPr>
            </a:pPr>
            <a:r>
              <a:t>DASHBOARD &amp;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Exchange Balance Monitor  ·  STRC  ·  SATA  ·  Nuclear Supply Shock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  <a:latin typeface="Calibri"/>
              </a:defRPr>
            </a:pPr>
            <a:r>
              <a:t>Data: Glassnode  ·  STRC.live  ·  Strategy.com  ·  Strive IR  ·  SEC 8-K Filings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Calibri"/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CURRENT STATE OF BTC SUPPLY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As of May 31, 2026 — sourced from Glassnode, SEC filings, STRC.live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103120" cy="12801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BTC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0D158"/>
                </a:solidFill>
                <a:latin typeface="Calibri"/>
              </a:defRPr>
            </a:pPr>
            <a:r>
              <a:t>$73,751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44444"/>
                </a:solidFill>
                <a:latin typeface="Calibri"/>
              </a:defRPr>
            </a:pPr>
            <a:r>
              <a:t>May 31,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2103120" cy="12801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ON EXCHANGES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3B30"/>
                </a:solidFill>
                <a:latin typeface="Calibri"/>
              </a:defRPr>
            </a:pPr>
            <a:r>
              <a:t>~2.97M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44444"/>
                </a:solidFill>
                <a:latin typeface="Calibri"/>
              </a:defRPr>
            </a:pPr>
            <a:r>
              <a:t>Glassnode All Exchanges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463040"/>
            <a:ext cx="2103120" cy="12801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% ON EXCHANGES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3B30"/>
                </a:solidFill>
                <a:latin typeface="Calibri"/>
              </a:defRPr>
            </a:pPr>
            <a:r>
              <a:t>14.85%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44444"/>
                </a:solidFill>
                <a:latin typeface="Calibri"/>
              </a:defRPr>
            </a:pPr>
            <a:r>
              <a:t>of 20.0M mined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463040"/>
            <a:ext cx="2103120" cy="12801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STRATEGY (MSTR)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7931A"/>
                </a:solidFill>
                <a:latin typeface="Calibri"/>
              </a:defRPr>
            </a:pPr>
            <a:r>
              <a:t>843,738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44444"/>
                </a:solidFill>
                <a:latin typeface="Calibri"/>
              </a:defRPr>
            </a:pPr>
            <a:r>
              <a:t>4.22% of total supply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463040"/>
            <a:ext cx="2103120" cy="12801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STRIVE (ASST)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F5AF2"/>
                </a:solidFill>
                <a:latin typeface="Calibri"/>
              </a:defRPr>
            </a:pPr>
            <a:r>
              <a:t>16,500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423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44444"/>
                </a:solidFill>
                <a:latin typeface="Calibri"/>
              </a:defRPr>
            </a:pPr>
            <a:r>
              <a:t>0.08% of total supply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64240" cy="7315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74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E0E0"/>
                </a:solidFill>
                <a:latin typeface="Calibri"/>
              </a:defRPr>
            </a:pPr>
            <a:r>
              <a:t>Supply Snapshot</a:t>
            </a:r>
          </a:p>
          <a:p>
            <a:pPr>
              <a:spcBef>
                <a:spcPts val="600"/>
              </a:spcBef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E0E0E0"/>
                </a:solidFill>
                <a:latin typeface="Calibri"/>
              </a:defRPr>
            </a:pPr>
            <a:r>
              <a:t>  Total Mined Supply:          20,000,000 BTC</a:t>
            </a:r>
          </a:p>
          <a:p>
            <a:pPr>
              <a:spcBef>
                <a:spcPts val="600"/>
              </a:spcBef>
              <a:defRPr sz="1300" b="0">
                <a:solidFill>
                  <a:srgbClr val="444444"/>
                </a:solidFill>
                <a:latin typeface="Calibri"/>
              </a:defRPr>
            </a:pPr>
            <a:r>
              <a:t>  Lost / Inaccessible:          ~3,500,000 BTC (17.5%)</a:t>
            </a:r>
          </a:p>
          <a:p>
            <a:pPr>
              <a:spcBef>
                <a:spcPts val="600"/>
              </a:spcBef>
              <a:defRPr sz="1300" b="0">
                <a:solidFill>
                  <a:srgbClr val="0A84FF"/>
                </a:solidFill>
                <a:latin typeface="Calibri"/>
              </a:defRPr>
            </a:pPr>
            <a:r>
              <a:t>  Long-term Holders (1yr+):  ~8,500,000 BTC (42.5%)</a:t>
            </a:r>
          </a:p>
          <a:p>
            <a:pPr>
              <a:spcBef>
                <a:spcPts val="600"/>
              </a:spcBef>
              <a:defRPr sz="1300" b="0">
                <a:solidFill>
                  <a:srgbClr val="FFD60A"/>
                </a:solidFill>
                <a:latin typeface="Calibri"/>
              </a:defRPr>
            </a:pPr>
            <a:r>
              <a:t>  ETFs &amp; Institutions:          ~1,100,000 BTC (5.5%)</a:t>
            </a:r>
          </a:p>
          <a:p>
            <a:pPr>
              <a:spcBef>
                <a:spcPts val="600"/>
              </a:spcBef>
              <a:defRPr sz="1300" b="0">
                <a:solidFill>
                  <a:srgbClr val="F7931A"/>
                </a:solidFill>
                <a:latin typeface="Calibri"/>
              </a:defRPr>
            </a:pPr>
            <a:r>
              <a:t>  Strategy (MSTR):                843,738 BTC (4.22%)</a:t>
            </a:r>
          </a:p>
          <a:p>
            <a:pPr>
              <a:spcBef>
                <a:spcPts val="600"/>
              </a:spcBef>
              <a:defRPr sz="1300" b="0">
                <a:solidFill>
                  <a:srgbClr val="BF5AF2"/>
                </a:solidFill>
                <a:latin typeface="Calibri"/>
              </a:defRPr>
            </a:pPr>
            <a:r>
              <a:t>  Strive (ASST):                      16,500 BTC (0.08%)</a:t>
            </a:r>
          </a:p>
          <a:p>
            <a:pPr>
              <a:spcBef>
                <a:spcPts val="600"/>
              </a:spcBef>
              <a:defRPr sz="1300" b="0">
                <a:solidFill>
                  <a:srgbClr val="FF3B30"/>
                </a:solidFill>
                <a:latin typeface="Calibri"/>
              </a:defRPr>
            </a:pPr>
            <a:r>
              <a:t>  On Exchanges (liquid):     ~2,970,000 BTC (14.85%)</a:t>
            </a:r>
          </a:p>
          <a:p>
            <a:pPr>
              <a:spcBef>
                <a:spcPts val="600"/>
              </a:spcBef>
              <a:defRPr sz="1300" b="0">
                <a:solidFill>
                  <a:srgbClr val="30D158"/>
                </a:solidFill>
                <a:latin typeface="Calibri"/>
              </a:defRPr>
            </a:pPr>
            <a:r>
              <a:t>  Other Circulating:             ~3,070,000 BTC (15.35%)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7472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E0E0"/>
                </a:solidFill>
                <a:latin typeface="Calibri"/>
              </a:defRPr>
            </a:pPr>
            <a:r>
              <a:t>Key Dynamics</a:t>
            </a:r>
          </a:p>
          <a:p>
            <a:pPr>
              <a:spcBef>
                <a:spcPts val="600"/>
              </a:spcBef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E0E0E0"/>
                </a:solidFill>
                <a:latin typeface="Calibri"/>
              </a:defRPr>
            </a:pPr>
            <a:r>
              <a:t>  New miner issuance: 450 BTC/day (3,150/week)</a:t>
            </a:r>
          </a:p>
          <a:p>
            <a:pPr>
              <a:spcBef>
                <a:spcPts val="600"/>
              </a:spcBef>
              <a:defRPr sz="1300" b="0">
                <a:solidFill>
                  <a:srgbClr val="E0E0E0"/>
                </a:solidFill>
                <a:latin typeface="Calibri"/>
              </a:defRPr>
            </a:pPr>
            <a:r>
              <a:t>  Next halving: April 2028 → cuts to ~1,575/week</a:t>
            </a:r>
          </a:p>
          <a:p>
            <a:pPr>
              <a:spcBef>
                <a:spcPts val="600"/>
              </a:spcBef>
              <a:defRPr sz="1300" b="1">
                <a:solidFill>
                  <a:srgbClr val="F7931A"/>
                </a:solidFill>
                <a:latin typeface="Calibri"/>
              </a:defRPr>
            </a:pPr>
            <a:r>
              <a:t>  Strategy buying 3-10x miner output per week</a:t>
            </a:r>
          </a:p>
          <a:p>
            <a:pPr>
              <a:spcBef>
                <a:spcPts val="600"/>
              </a:spcBef>
              <a:defRPr sz="1300" b="0">
                <a:solidFill>
                  <a:srgbClr val="BF5AF2"/>
                </a:solidFill>
                <a:latin typeface="Calibri"/>
              </a:defRPr>
            </a:pPr>
            <a:r>
              <a:t>  Strive adding ~350 BTC/week and accelerating</a:t>
            </a:r>
          </a:p>
          <a:p>
            <a:pPr>
              <a:spcBef>
                <a:spcPts val="600"/>
              </a:spcBef>
              <a:defRPr sz="1300" b="1">
                <a:solidFill>
                  <a:srgbClr val="FF3B30"/>
                </a:solidFill>
                <a:latin typeface="Calibri"/>
              </a:defRPr>
            </a:pPr>
            <a:r>
              <a:t>  Exchange reserves at multi-year structural lows</a:t>
            </a:r>
          </a:p>
          <a:p>
            <a:pPr>
              <a:spcBef>
                <a:spcPts val="600"/>
              </a:spcBef>
              <a:defRPr sz="1300" b="0">
                <a:solidFill>
                  <a:srgbClr val="BF5AF2"/>
                </a:solidFill>
                <a:latin typeface="Calibri"/>
              </a:defRPr>
            </a:pPr>
            <a:r>
              <a:t>  STRC now primary BTC acquisition vehicle</a:t>
            </a:r>
          </a:p>
          <a:p>
            <a:pPr>
              <a:spcBef>
                <a:spcPts val="600"/>
              </a:spcBef>
              <a:defRPr sz="1300" b="1">
                <a:solidFill>
                  <a:srgbClr val="FFD60A"/>
                </a:solidFill>
                <a:latin typeface="Calibri"/>
              </a:defRPr>
            </a:pPr>
            <a:r>
              <a:t>  Corporate demand structurally &gt; new supply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STRATEGY WEEKLY BTC PURCHASES — 2026 YTD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Breakdown: STRC Preferred Stock funding vs MSTR Equity / Other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80160"/>
          <a:ext cx="110642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solidFill>
            <a:srgbClr val="180E22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5AF2"/>
                </a:solidFill>
                <a:latin typeface="Calibri"/>
              </a:defRPr>
            </a:pPr>
            <a:r>
              <a:t>STRC is now the primary BTC acquisition engine.</a:t>
            </a:r>
          </a:p>
          <a:p>
            <a:pPr>
              <a:spcBef>
                <a:spcPts val="600"/>
              </a:spcBef>
              <a:defRPr sz="1200" b="0">
                <a:solidFill>
                  <a:srgbClr val="E0E0E0"/>
                </a:solidFill>
                <a:latin typeface="Calibri"/>
              </a:defRPr>
            </a:pPr>
            <a:r>
              <a:t>In the week of May 11-17, STRC ATM inflows hit $2.0B — funding nearly 100% of Strategy's 24,869 BTC purchase.</a:t>
            </a:r>
          </a:p>
          <a:p>
            <a:pPr>
              <a:spcBef>
                <a:spcPts val="600"/>
              </a:spcBef>
              <a:defRPr sz="1200" b="0">
                <a:solidFill>
                  <a:srgbClr val="888888"/>
                </a:solidFill>
                <a:latin typeface="Calibri"/>
              </a:defRPr>
            </a:pPr>
            <a:r>
              <a:t>Daily STRC ATM spiked to 14,439 BTC-equivalent on May 14.  STRC market cap: $10.5B — largest preferred stock globally.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STRC vs SATA — PREFERRED STOCK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Two preferred equity instruments driving BTC treasury accumulation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200400" cy="384048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371600"/>
            <a:ext cx="3931920" cy="384048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1417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STRC (STRATEGY)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371600"/>
            <a:ext cx="3931920" cy="384048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417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SATA (STRIVE)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320040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013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Issuer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755648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8013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Strategy Inc (MSTR)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755648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8013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Strive Inc (ASST)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39696"/>
            <a:ext cx="3200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85415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139696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218541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Variable Rate Perpetual Preferred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139696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18541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Variable Rate Perpetual Preferred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23744"/>
            <a:ext cx="320040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569463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Dividend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2523744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256946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7931A"/>
                </a:solidFill>
                <a:latin typeface="Calibri"/>
              </a:defRPr>
            </a:pPr>
            <a:r>
              <a:t>11.50% annual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2523744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56946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5AF2"/>
                </a:solidFill>
                <a:latin typeface="Calibri"/>
              </a:defRPr>
            </a:pPr>
            <a:r>
              <a:t>13.00% annual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907791"/>
            <a:ext cx="3200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953511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Dividend Frequency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2907791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295351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907791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295351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Daily (from Jun 16,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291840"/>
            <a:ext cx="320040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3375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Par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3291840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6200" y="3337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$100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3291840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3337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$100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675887"/>
            <a:ext cx="3200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3721607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Market Cap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3675887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86200" y="372160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7931A"/>
                </a:solidFill>
                <a:latin typeface="Calibri"/>
              </a:defRPr>
            </a:pPr>
            <a:r>
              <a:t>~$10.5B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3675887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372160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5AF2"/>
                </a:solidFill>
                <a:latin typeface="Calibri"/>
              </a:defRPr>
            </a:pPr>
            <a:r>
              <a:t>~$845M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059935"/>
            <a:ext cx="320040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105655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Notional Outstanding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4059935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6200" y="410565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$15.5B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4059935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410565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443983"/>
            <a:ext cx="3200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4489703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BTC Backing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4443983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86200" y="44897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843,738 BTC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4443983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18120" y="44897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16,500 BTC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828031"/>
            <a:ext cx="320040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873751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Debt Status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39" y="4828031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86200" y="487375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$8B+ convertible notes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4828031"/>
            <a:ext cx="3931920" cy="384048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487375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D158"/>
                </a:solidFill>
                <a:latin typeface="Calibri"/>
              </a:defRPr>
            </a:pPr>
            <a:r>
              <a:t>$0 — debt free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212080"/>
            <a:ext cx="320040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2578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BTC Encumbered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49039" y="5212080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86200" y="5257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Partially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80960" y="5212080"/>
            <a:ext cx="393192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18120" y="5257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D158"/>
                </a:solidFill>
                <a:latin typeface="Calibri"/>
              </a:defRPr>
            </a:pPr>
            <a:r>
              <a:t>0% — fully unencumbered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486400"/>
            <a:ext cx="5303520" cy="1005840"/>
          </a:xfrm>
          <a:prstGeom prst="rect">
            <a:avLst/>
          </a:prstGeom>
          <a:solidFill>
            <a:srgbClr val="120A00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55778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7931A"/>
                </a:solidFill>
                <a:latin typeface="Calibri"/>
              </a:defRPr>
            </a:pPr>
            <a:r>
              <a:t>STRC: The Bitcoin Machine</a:t>
            </a:r>
          </a:p>
          <a:p>
            <a:pPr>
              <a:spcBef>
                <a:spcPts val="600"/>
              </a:spcBef>
              <a:defRPr sz="1100" b="0">
                <a:solidFill>
                  <a:srgbClr val="E0E0E0"/>
                </a:solidFill>
                <a:latin typeface="Calibri"/>
              </a:defRPr>
            </a:pPr>
            <a:r>
              <a:t>Scaled to $10.5B mkt cap in 10 months. Now the</a:t>
            </a:r>
          </a:p>
          <a:p>
            <a:pPr>
              <a:spcBef>
                <a:spcPts val="600"/>
              </a:spcBef>
              <a:defRPr sz="1100" b="0">
                <a:solidFill>
                  <a:srgbClr val="E0E0E0"/>
                </a:solidFill>
                <a:latin typeface="Calibri"/>
              </a:defRPr>
            </a:pPr>
            <a:r>
              <a:t>largest preferred stock by market cap globally.</a:t>
            </a:r>
          </a:p>
          <a:p>
            <a:pPr>
              <a:spcBef>
                <a:spcPts val="600"/>
              </a:spcBef>
              <a:defRPr sz="1100" b="0">
                <a:solidFill>
                  <a:srgbClr val="F7931A"/>
                </a:solidFill>
                <a:latin typeface="Calibri"/>
              </a:defRPr>
            </a:pPr>
            <a:r>
              <a:t>Generates $1-2B/week in BTC acquisition capital.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5486400"/>
            <a:ext cx="5394960" cy="1005840"/>
          </a:xfrm>
          <a:prstGeom prst="rect">
            <a:avLst/>
          </a:prstGeom>
          <a:solidFill>
            <a:srgbClr val="100818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55778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5AF2"/>
                </a:solidFill>
                <a:latin typeface="Calibri"/>
              </a:defRPr>
            </a:pPr>
            <a:r>
              <a:t>SATA: Clean Balance Sheet Play</a:t>
            </a:r>
          </a:p>
          <a:p>
            <a:pPr>
              <a:spcBef>
                <a:spcPts val="600"/>
              </a:spcBef>
              <a:defRPr sz="1100" b="0">
                <a:solidFill>
                  <a:srgbClr val="30D158"/>
                </a:solidFill>
                <a:latin typeface="Calibri"/>
              </a:defRPr>
            </a:pPr>
            <a:r>
              <a:t>Zero debt, 100% unencumbered BTC.</a:t>
            </a:r>
          </a:p>
          <a:p>
            <a:pPr>
              <a:spcBef>
                <a:spcPts val="600"/>
              </a:spcBef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First U.S. listed security to pay daily dividends.</a:t>
            </a:r>
          </a:p>
          <a:p>
            <a:pPr>
              <a:spcBef>
                <a:spcPts val="600"/>
              </a:spcBef>
              <a:defRPr sz="1100" b="0">
                <a:solidFill>
                  <a:srgbClr val="BF5AF2"/>
                </a:solidFill>
                <a:latin typeface="Calibri"/>
              </a:defRPr>
            </a:pPr>
            <a:r>
              <a:t>13% annual yield — highest in BTC preferred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EXCHANGE BALANCE — STRUCTURAL DECLINE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Glassnode aggregate exchange balance — 2020 to present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8016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3B30"/>
                </a:solidFill>
                <a:latin typeface="Calibri"/>
              </a:defRPr>
            </a:pPr>
            <a:r>
              <a:t>── NUCLEAR (1.0M)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500"/>
                </a:solidFill>
                <a:latin typeface="Calibri"/>
              </a:defRPr>
            </a:pPr>
            <a:r>
              <a:t>── SEVERE (1.5M)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D60A"/>
                </a:solidFill>
                <a:latin typeface="Calibri"/>
              </a:defRPr>
            </a:pPr>
            <a:r>
              <a:t>── HIGH (2.0M)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8016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E0E0"/>
                </a:solidFill>
                <a:latin typeface="Calibri"/>
              </a:defRPr>
            </a:pPr>
            <a:r>
              <a:t>Why Exchange Balance Matters</a:t>
            </a:r>
          </a:p>
          <a:p>
            <a:pPr>
              <a:spcBef>
                <a:spcPts val="600"/>
              </a:spcBef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E0E0E0"/>
                </a:solidFill>
                <a:latin typeface="Calibri"/>
              </a:defRPr>
            </a:pPr>
            <a:r>
              <a:t>Exchange BTC is the "float" — the only supply available for immediate purchase by new buyers.</a:t>
            </a:r>
          </a:p>
          <a:p>
            <a:pPr>
              <a:spcBef>
                <a:spcPts val="600"/>
              </a:spcBef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E0E0E0"/>
                </a:solidFill>
                <a:latin typeface="Calibri"/>
              </a:defRPr>
            </a:pPr>
            <a:r>
              <a:t>When buyers want more than sellers offer at current prices, price must rise to incentivize holders to sell.</a:t>
            </a:r>
          </a:p>
          <a:p>
            <a:pPr>
              <a:spcBef>
                <a:spcPts val="600"/>
              </a:spcBef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FFD60A"/>
                </a:solidFill>
                <a:latin typeface="Calibri"/>
              </a:defRPr>
            </a:pPr>
            <a:r>
              <a:t>Every major BTC rally (2013, 2017, 2021) was preceded by declining exchange reserves.</a:t>
            </a:r>
          </a:p>
          <a:p>
            <a:pPr>
              <a:spcBef>
                <a:spcPts val="600"/>
              </a:spcBef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FF3B30"/>
                </a:solidFill>
                <a:latin typeface="Calibri"/>
              </a:defRPr>
            </a:pPr>
            <a:r>
              <a:t>Currently at ~2.97M BTC (14.85% of supply). Trend is resuming downward as corporate treasury buying accelerates.</a:t>
            </a:r>
          </a:p>
          <a:p>
            <a:pPr>
              <a:spcBef>
                <a:spcPts val="600"/>
              </a:spcBef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888888"/>
                </a:solidFill>
                <a:latin typeface="Calibri"/>
              </a:defRPr>
            </a:pPr>
            <a:r>
              <a:t>Post-halving issuance (450 BTC/day) cannot replace what's being withdrawn.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THE STRUCTURAL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Corporate BTC demand vs miner new supply — multiples of weekly issuance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8016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280160"/>
            <a:ext cx="3931920" cy="365760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4630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931A"/>
                </a:solidFill>
                <a:latin typeface="Calibri"/>
              </a:defRPr>
            </a:pPr>
            <a:r>
              <a:t>The Math</a:t>
            </a:r>
          </a:p>
          <a:p>
            <a:pPr>
              <a:spcBef>
                <a:spcPts val="600"/>
              </a:spcBef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888888"/>
                </a:solidFill>
                <a:latin typeface="Calibri"/>
              </a:defRPr>
            </a:pPr>
            <a:r>
              <a:t>Miner Output:</a:t>
            </a:r>
          </a:p>
          <a:p>
            <a:pPr>
              <a:spcBef>
                <a:spcPts val="600"/>
              </a:spcBef>
              <a:defRPr sz="1600" b="1">
                <a:solidFill>
                  <a:srgbClr val="30D158"/>
                </a:solidFill>
                <a:latin typeface="Calibri"/>
              </a:defRPr>
            </a:pPr>
            <a:r>
              <a:t>3,150 BTC / week</a:t>
            </a:r>
          </a:p>
          <a:p>
            <a:pPr>
              <a:spcBef>
                <a:spcPts val="600"/>
              </a:spcBef>
              <a:defRPr sz="10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888888"/>
                </a:solidFill>
                <a:latin typeface="Calibri"/>
              </a:defRPr>
            </a:pPr>
            <a:r>
              <a:t>Strategy Peak Week:</a:t>
            </a:r>
          </a:p>
          <a:p>
            <a:pPr>
              <a:spcBef>
                <a:spcPts val="600"/>
              </a:spcBef>
              <a:defRPr sz="1600" b="1">
                <a:solidFill>
                  <a:srgbClr val="F7931A"/>
                </a:solidFill>
                <a:latin typeface="Calibri"/>
              </a:defRPr>
            </a:pPr>
            <a:r>
              <a:t>34,164 BTC (10.8x issuance)</a:t>
            </a:r>
          </a:p>
          <a:p>
            <a:pPr>
              <a:spcBef>
                <a:spcPts val="600"/>
              </a:spcBef>
              <a:defRPr sz="10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888888"/>
                </a:solidFill>
                <a:latin typeface="Calibri"/>
              </a:defRPr>
            </a:pPr>
            <a:r>
              <a:t>Strategy Avg Active Week:</a:t>
            </a:r>
          </a:p>
          <a:p>
            <a:pPr>
              <a:spcBef>
                <a:spcPts val="600"/>
              </a:spcBef>
              <a:defRPr sz="1600" b="1">
                <a:solidFill>
                  <a:srgbClr val="F7931A"/>
                </a:solidFill>
                <a:latin typeface="Calibri"/>
              </a:defRPr>
            </a:pPr>
            <a:r>
              <a:t>~14,000 BTC (4.4x issuance)</a:t>
            </a:r>
          </a:p>
          <a:p>
            <a:pPr>
              <a:spcBef>
                <a:spcPts val="600"/>
              </a:spcBef>
              <a:defRPr sz="10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E0E0E0"/>
                </a:solidFill>
                <a:latin typeface="Calibri"/>
              </a:defRPr>
            </a:pPr>
            <a:r>
              <a:t>This is structurally</a:t>
            </a:r>
          </a:p>
          <a:p>
            <a:pPr>
              <a:spcBef>
                <a:spcPts val="600"/>
              </a:spcBef>
              <a:defRPr sz="1400" b="1">
                <a:solidFill>
                  <a:srgbClr val="FF3B30"/>
                </a:solidFill>
                <a:latin typeface="Calibri"/>
              </a:defRPr>
            </a:pPr>
            <a:r>
              <a:t>unprecedented.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solidFill>
            <a:srgbClr val="1A0A0A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Calibri"/>
              </a:defRPr>
            </a:pPr>
            <a:r>
              <a:t>Key Insight</a:t>
            </a:r>
          </a:p>
          <a:p>
            <a:pPr>
              <a:spcBef>
                <a:spcPts val="600"/>
              </a:spcBef>
              <a:defRPr sz="1300" b="0">
                <a:solidFill>
                  <a:srgbClr val="E0E0E0"/>
                </a:solidFill>
                <a:latin typeface="Calibri"/>
              </a:defRPr>
            </a:pPr>
            <a:r>
              <a:t>Strategy alone absorbs 3-10x more BTC per week than miners produce. Add Strive, ETF inflows, other corporate treasuries,</a:t>
            </a:r>
          </a:p>
          <a:p>
            <a:pPr>
              <a:spcBef>
                <a:spcPts val="600"/>
              </a:spcBef>
              <a:defRPr sz="1300" b="0">
                <a:solidFill>
                  <a:srgbClr val="E0E0E0"/>
                </a:solidFill>
                <a:latin typeface="Calibri"/>
              </a:defRPr>
            </a:pPr>
            <a:r>
              <a:t>and organic self-custody outflows — the net drain on exchange-available supply is accelerating faster than at any point in Bitcoin's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SUPPLY SHOCK SEVERITY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What happens when exchange supply drops below critical thresholds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solidFill>
            <a:srgbClr val="16162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A"/>
                </a:solidFill>
                <a:latin typeface="Calibri"/>
              </a:defRPr>
            </a:pPr>
            <a:r>
              <a:t>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&lt; 2.5M BTC (12.5%)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Reduced liquidity. Larger orders start causing slippage. Price becomes more sensitive to demand spikes. Early warning.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11064240" cy="1097280"/>
          </a:xfrm>
          <a:prstGeom prst="rect">
            <a:avLst/>
          </a:prstGeom>
          <a:solidFill>
            <a:srgbClr val="161620"/>
          </a:solidFill>
          <a:ln w="127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50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&lt; 2.0M BTC (10.0%)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8036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Significant supply constraint. OTC desks struggle to fill large orders. Bid-ask spreads widen. Institutional buyers compete for shrinking float.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11064240" cy="1097280"/>
          </a:xfrm>
          <a:prstGeom prst="rect">
            <a:avLst/>
          </a:prstGeom>
          <a:solidFill>
            <a:srgbClr val="161620"/>
          </a:solidFill>
          <a:ln w="12700">
            <a:solidFill>
              <a:srgbClr val="FF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30"/>
                </a:solidFill>
                <a:latin typeface="Calibri"/>
              </a:defRPr>
            </a:pPr>
            <a:r>
              <a:t>SEVERE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&lt; 1.5M BTC (7.5%)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Critical supply shortage. Exchange order books thin dramatically. Small purchases create outsized price moves. Resembles 2017 pre-parabolic conditions.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03519"/>
            <a:ext cx="11064240" cy="1097280"/>
          </a:xfrm>
          <a:prstGeom prst="rect">
            <a:avLst/>
          </a:prstGeom>
          <a:solidFill>
            <a:srgbClr val="161620"/>
          </a:solidFill>
          <a:ln w="127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94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3B30"/>
                </a:solidFill>
                <a:latin typeface="Calibri"/>
              </a:defRPr>
            </a:pPr>
            <a:r>
              <a:t>NUCLEAR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&lt; 1.0M BTC (5.0%)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40679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Unprecedented territory. Functional supply crisis. Sellers must be incentivized at dramatically higher prices. Potential for parabolic, reflexive price discovery as supply vanishes.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60A"/>
                </a:solidFill>
                <a:latin typeface="Calibri"/>
              </a:defRPr>
            </a:pPr>
            <a:r>
              <a:t>Current: 2.97M BTC on exchanges (14.85%) — Score: 25/100 — just entered the descent path toward "Elevated" territory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NUCLEAR SUPPLY SHOCK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Four scenario projections — when does exchange balance hit critical levels?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alibri"/>
              </a:defRPr>
            </a:pPr>
            <a:r>
              <a:t>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71600"/>
            <a:ext cx="1645920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alibri"/>
              </a:defRPr>
            </a:pPr>
            <a:r>
              <a:t>STRATEGY BUY/WK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371600"/>
            <a:ext cx="1554480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alibri"/>
              </a:defRPr>
            </a:pPr>
            <a:r>
              <a:t>NET DRAIN/WK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371600"/>
            <a:ext cx="1371600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417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alibri"/>
              </a:defRPr>
            </a:pPr>
            <a:r>
              <a:t>TIME TO SHOCK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1554480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alibri"/>
              </a:defRPr>
            </a:pPr>
            <a:r>
              <a:t>PROJECTED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71600"/>
            <a:ext cx="1463040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alibri"/>
              </a:defRPr>
            </a:pPr>
            <a:r>
              <a:t>EXCHANGE 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371600"/>
            <a:ext cx="1463040" cy="3657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874519"/>
            <a:ext cx="182880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1874519"/>
            <a:ext cx="164592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5,600 BTC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874519"/>
            <a:ext cx="155448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2,290 BTC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1874519"/>
            <a:ext cx="137160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1965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115 wks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874519"/>
            <a:ext cx="155448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Aug 2028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1874519"/>
            <a:ext cx="146304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1965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&lt; 2.0M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1874519"/>
            <a:ext cx="146304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1965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60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  <a:latin typeface="Calibri"/>
              </a:defRPr>
            </a:pPr>
            <a:r>
              <a:t>Base Case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2377440"/>
            <a:ext cx="164592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14,000 BTC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2377440"/>
            <a:ext cx="155448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13,200 BTC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377440"/>
            <a:ext cx="13716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2468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86 wks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2377440"/>
            <a:ext cx="155448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Jan 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2377440"/>
            <a:ext cx="146304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&lt; 1.0M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2377440"/>
            <a:ext cx="146304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2468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B30"/>
                </a:solidFill>
                <a:latin typeface="Calibri"/>
              </a:defRPr>
            </a:pPr>
            <a:r>
              <a:t>NUCLEAR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2880360"/>
            <a:ext cx="182880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  <a:latin typeface="Calibri"/>
              </a:defRPr>
            </a:pPr>
            <a:r>
              <a:t>Bull Case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2880360"/>
            <a:ext cx="164592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8880" y="2971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21,000 BTC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2880360"/>
            <a:ext cx="155448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21,825 BTC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2880360"/>
            <a:ext cx="137160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0" y="2971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63 wks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2880360"/>
            <a:ext cx="155448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Aug 2027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880360"/>
            <a:ext cx="146304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2971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&lt; 1.0M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66960" y="2880360"/>
            <a:ext cx="1463040" cy="457200"/>
          </a:xfrm>
          <a:prstGeom prst="rect">
            <a:avLst/>
          </a:prstGeom>
          <a:solidFill>
            <a:srgbClr val="16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2971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B30"/>
                </a:solidFill>
                <a:latin typeface="Calibri"/>
              </a:defRPr>
            </a:pPr>
            <a:r>
              <a:t>NUCLEAR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3383280"/>
            <a:ext cx="18288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3474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  <a:latin typeface="Calibri"/>
              </a:defRPr>
            </a:pPr>
            <a:r>
              <a:t>Hyper Bull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3383280"/>
            <a:ext cx="164592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68880" y="3474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35,000 BTC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23360" y="3383280"/>
            <a:ext cx="155448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39,475 BTC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77840" y="3383280"/>
            <a:ext cx="13716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0" y="3474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41 wks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0" y="3383280"/>
            <a:ext cx="155448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408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Mar 2027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03920" y="3383280"/>
            <a:ext cx="146304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95360" y="3474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&lt; 1.0M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66960" y="3383280"/>
            <a:ext cx="146304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58400" y="3474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B30"/>
                </a:solidFill>
                <a:latin typeface="Calibri"/>
              </a:defRPr>
            </a:pPr>
            <a:r>
              <a:t>NUCLEAR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4444"/>
                </a:solidFill>
                <a:latin typeface="Calibri"/>
              </a:defRPr>
            </a:pPr>
            <a:r>
              <a:t>Model Assumptions</a:t>
            </a:r>
          </a:p>
          <a:p>
            <a:pPr>
              <a:spcBef>
                <a:spcPts val="600"/>
              </a:spcBef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0">
                <a:solidFill>
                  <a:srgbClr val="444444"/>
                </a:solidFill>
                <a:latin typeface="Calibri"/>
              </a:defRPr>
            </a:pPr>
            <a:r>
              <a:t>  Starting exchange balance: 2,970,000 BTC  •  New issuance: 3,150 BTC/week  •  Organic outflow: 4,000 BTC/week  •  Inflow: 2,500 BTC/week</a:t>
            </a:r>
          </a:p>
          <a:p>
            <a:pPr>
              <a:spcBef>
                <a:spcPts val="600"/>
              </a:spcBef>
              <a:defRPr sz="1000" b="0">
                <a:solidFill>
                  <a:srgbClr val="444444"/>
                </a:solidFill>
                <a:latin typeface="Calibri"/>
              </a:defRPr>
            </a:pPr>
            <a:r>
              <a:t>  Strategy buy acceleration: 5%/month compounding  •  Strive: 350 BTC/week  •  New corporate entrants: 500 BTC/week</a:t>
            </a:r>
          </a:p>
          <a:p>
            <a:pPr>
              <a:spcBef>
                <a:spcPts val="600"/>
              </a:spcBef>
              <a:defRPr sz="1000" b="0">
                <a:solidFill>
                  <a:srgbClr val="444444"/>
                </a:solidFill>
                <a:latin typeface="Calibri"/>
              </a:defRPr>
            </a:pPr>
            <a:r>
              <a:t>  "Nuclear" threshold: exchange balance &lt; 1,000,000 BTC (5% of supply)  •  Does NOT account for: ETF flows, sovereign purchases, demand destruction from price</a:t>
            </a:r>
          </a:p>
          <a:p>
            <a:pPr>
              <a:spcBef>
                <a:spcPts val="600"/>
              </a:spcBef>
              <a:defRPr sz="10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0">
                <a:solidFill>
                  <a:srgbClr val="30D158"/>
                </a:solidFill>
                <a:latin typeface="Calibri"/>
              </a:defRPr>
            </a:pPr>
            <a:r>
              <a:t>  Conservative scenario: Strategy buys at 40% of current rate, organic outflows halved</a:t>
            </a:r>
          </a:p>
          <a:p>
            <a:pPr>
              <a:spcBef>
                <a:spcPts val="600"/>
              </a:spcBef>
              <a:defRPr sz="1000" b="0">
                <a:solidFill>
                  <a:srgbClr val="FFD60A"/>
                </a:solidFill>
                <a:latin typeface="Calibri"/>
              </a:defRPr>
            </a:pPr>
            <a:r>
              <a:t>  Base Case: Current rates sustained with 5%/mo acceleration</a:t>
            </a:r>
          </a:p>
          <a:p>
            <a:pPr>
              <a:spcBef>
                <a:spcPts val="600"/>
              </a:spcBef>
              <a:defRPr sz="1000" b="0">
                <a:solidFill>
                  <a:srgbClr val="FF9500"/>
                </a:solidFill>
                <a:latin typeface="Calibri"/>
              </a:defRPr>
            </a:pPr>
            <a:r>
              <a:t>  Bull Case: 1.5x current rates, 1.3x organic outflows</a:t>
            </a:r>
          </a:p>
          <a:p>
            <a:pPr>
              <a:spcBef>
                <a:spcPts val="600"/>
              </a:spcBef>
              <a:defRPr sz="1000" b="0">
                <a:solidFill>
                  <a:srgbClr val="FF3B30"/>
                </a:solidFill>
                <a:latin typeface="Calibri"/>
              </a:defRPr>
            </a:pPr>
            <a:r>
              <a:t>  Hyper Bull: 2.5x current rates, 2x organic outflows — Strategy hits 1M BTC target + new entrants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B30"/>
                </a:solidFill>
                <a:latin typeface="Calibri"/>
              </a:defRPr>
            </a:pPr>
            <a:r>
              <a:t>Even the conservative case projects exchange balance hitting "High" shock territory by mid-2028. The base case reaches nuclear by early 2028.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PROJECTED TIMELINE TO NUCLEAR SUPPLY SHOCK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When does exchange balance cross the 1M BTC nuclear threshold under each scenario?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017520"/>
            <a:ext cx="1106424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73152" cy="8229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8288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E0E0"/>
                </a:solidFill>
                <a:latin typeface="Calibri"/>
              </a:defRPr>
            </a:pPr>
            <a:r>
              <a:t>NOW</a:t>
            </a:r>
            <a:br/>
            <a:r>
              <a:t>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8288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4444"/>
                </a:solidFill>
                <a:latin typeface="Calibri"/>
              </a:defRPr>
            </a:pPr>
            <a:r>
              <a:t>2.97M BTC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651760"/>
            <a:ext cx="73152" cy="8229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3B30"/>
                </a:solidFill>
                <a:latin typeface="Calibri"/>
              </a:defRPr>
            </a:pPr>
            <a:r>
              <a:t>Hyper Bull</a:t>
            </a:r>
            <a:br/>
            <a:r>
              <a:t>Mar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4444"/>
                </a:solidFill>
                <a:latin typeface="Calibri"/>
              </a:defRPr>
            </a:pPr>
            <a:r>
              <a:t>41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651760"/>
            <a:ext cx="73152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500"/>
                </a:solidFill>
                <a:latin typeface="Calibri"/>
              </a:defRPr>
            </a:pPr>
            <a:r>
              <a:t>Bull Case</a:t>
            </a:r>
            <a:br/>
            <a:r>
              <a:t>Aug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4444"/>
                </a:solidFill>
                <a:latin typeface="Calibri"/>
              </a:defRPr>
            </a:pPr>
            <a:r>
              <a:t>63 weeks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651760"/>
            <a:ext cx="73152" cy="82296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60A"/>
                </a:solidFill>
                <a:latin typeface="Calibri"/>
              </a:defRPr>
            </a:pPr>
            <a:r>
              <a:t>Base Case</a:t>
            </a:r>
            <a:br/>
            <a:r>
              <a:t>Jan 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4444"/>
                </a:solidFill>
                <a:latin typeface="Calibri"/>
              </a:defRPr>
            </a:pPr>
            <a:r>
              <a:t>86 weeks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651760"/>
            <a:ext cx="73152" cy="82296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0D158"/>
                </a:solidFill>
                <a:latin typeface="Calibri"/>
              </a:defRPr>
            </a:pPr>
            <a:r>
              <a:t>Conservative</a:t>
            </a:r>
            <a:br/>
            <a:r>
              <a:t>Aug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4444"/>
                </a:solidFill>
                <a:latin typeface="Calibri"/>
              </a:defRPr>
            </a:pPr>
            <a:r>
              <a:t>115 weeks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651760"/>
            <a:ext cx="54864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246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A84FF"/>
                </a:solidFill>
                <a:latin typeface="Calibri"/>
              </a:defRPr>
            </a:pPr>
            <a:r>
              <a:t>HALVING</a:t>
            </a:r>
            <a:br/>
            <a:r>
              <a:t>Apr 2028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5303520" cy="201168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Calibri"/>
              </a:defRPr>
            </a:pPr>
            <a:r>
              <a:t>Accelerating Factors</a:t>
            </a:r>
          </a:p>
          <a:p>
            <a:pPr>
              <a:spcBef>
                <a:spcPts val="600"/>
              </a:spcBef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F7931A"/>
                </a:solidFill>
                <a:latin typeface="Calibri"/>
              </a:defRPr>
            </a:pPr>
            <a:r>
              <a:t>  Strategy targeting 1M BTC (~6,158/wk needed)</a:t>
            </a:r>
          </a:p>
          <a:p>
            <a:pPr>
              <a:spcBef>
                <a:spcPts val="600"/>
              </a:spcBef>
              <a:defRPr sz="1200" b="0">
                <a:solidFill>
                  <a:srgbClr val="BF5AF2"/>
                </a:solidFill>
                <a:latin typeface="Calibri"/>
              </a:defRPr>
            </a:pPr>
            <a:r>
              <a:t>  STRC ATM scaling — $2B/week and growing</a:t>
            </a:r>
          </a:p>
          <a:p>
            <a:pPr>
              <a:spcBef>
                <a:spcPts val="600"/>
              </a:spcBef>
              <a:defRPr sz="1200" b="0">
                <a:solidFill>
                  <a:srgbClr val="BF5AF2"/>
                </a:solidFill>
                <a:latin typeface="Calibri"/>
              </a:defRPr>
            </a:pPr>
            <a:r>
              <a:t>  Strive SATA launching daily dividends Jun 16</a:t>
            </a:r>
          </a:p>
          <a:p>
            <a:pPr>
              <a:spcBef>
                <a:spcPts val="600"/>
              </a:spcBef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Other corporate treasuries entering the space</a:t>
            </a:r>
          </a:p>
          <a:p>
            <a:pPr>
              <a:spcBef>
                <a:spcPts val="600"/>
              </a:spcBef>
              <a:defRPr sz="1200" b="0">
                <a:solidFill>
                  <a:srgbClr val="FFD60A"/>
                </a:solidFill>
                <a:latin typeface="Calibri"/>
              </a:defRPr>
            </a:pPr>
            <a:r>
              <a:t>  ETF inflows resume in risk-on environment</a:t>
            </a:r>
          </a:p>
          <a:p>
            <a:pPr>
              <a:spcBef>
                <a:spcPts val="600"/>
              </a:spcBef>
              <a:defRPr sz="1200" b="0">
                <a:solidFill>
                  <a:srgbClr val="0A84FF"/>
                </a:solidFill>
                <a:latin typeface="Calibri"/>
              </a:defRPr>
            </a:pPr>
            <a:r>
              <a:t>  April 2028 halving cuts issuance by 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389120"/>
            <a:ext cx="5394960" cy="201168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5262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D158"/>
                </a:solidFill>
                <a:latin typeface="Calibri"/>
              </a:defRPr>
            </a:pPr>
            <a:r>
              <a:t>Decelerating Factors</a:t>
            </a:r>
          </a:p>
          <a:p>
            <a:pPr>
              <a:spcBef>
                <a:spcPts val="600"/>
              </a:spcBef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Rising BTC price increases acquisition cost</a:t>
            </a:r>
          </a:p>
          <a:p>
            <a:pPr>
              <a:spcBef>
                <a:spcPts val="600"/>
              </a:spcBef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Strategy debt load ($8B+) limits borrowing</a:t>
            </a:r>
          </a:p>
          <a:p>
            <a:pPr>
              <a:spcBef>
                <a:spcPts val="600"/>
              </a:spcBef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Potential regulatory intervention</a:t>
            </a:r>
          </a:p>
          <a:p>
            <a:pPr>
              <a:spcBef>
                <a:spcPts val="600"/>
              </a:spcBef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Market sell-offs / risk-off environments</a:t>
            </a:r>
          </a:p>
          <a:p>
            <a:pPr>
              <a:spcBef>
                <a:spcPts val="600"/>
              </a:spcBef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STRC/SATA dividend obligations ($1B+/yr)</a:t>
            </a:r>
          </a:p>
          <a:p>
            <a:pPr>
              <a:spcBef>
                <a:spcPts val="600"/>
              </a:spcBef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Profit-taking at higher price levels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0195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Calibri"/>
              </a:defRPr>
            </a:pPr>
            <a:r>
              <a:t>Exchange supply is in structural decline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4028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Only 14.85% of BTC remains on exchanges — down from 16%+ in 2022. The trend is resuming downward.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88920"/>
            <a:ext cx="103327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6207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931A"/>
                </a:solidFill>
                <a:latin typeface="Calibri"/>
              </a:defRPr>
            </a:pPr>
            <a:r>
              <a:t>Corporate demand exceeds new supply by multiples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Strategy alone buys 3-10x what miners produce weekly. STRC preferred stock has industrialized BTC acquisition.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49039"/>
            <a:ext cx="103327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22191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AF2"/>
                </a:solidFill>
                <a:latin typeface="Calibri"/>
              </a:defRPr>
            </a:pPr>
            <a:r>
              <a:t>Two preferred stock instruments are accelerating the drain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STRC ($10.5B mkt cap) and SATA (13% daily dividend) represent a new financial primitive — equity-to-BTC conversion engines.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823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A"/>
                </a:solidFill>
                <a:latin typeface="Calibri"/>
              </a:defRPr>
            </a:pPr>
            <a:r>
              <a:t>Nuclear supply shock projected within 12-24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Base case: Jan 2028. Bull case: Aug 2027. Even conservative estimates show critical levels by mid-2028.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74243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84FF"/>
                </a:solidFill>
                <a:latin typeface="Calibri"/>
              </a:defRPr>
            </a:pPr>
            <a:r>
              <a:t>The April 2028 halving is a force multiplier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608076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Issuance drops from 3,150 to ~1,575 BTC/week — making the supply deficit even more acute.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44444"/>
                </a:solidFill>
                <a:latin typeface="Calibri"/>
              </a:defRPr>
            </a:pPr>
            <a:r>
              <a:t>Sources: Glassnode  •  STRC.live  •  Strategy.com  •  Strive IR  •  SEC 8-K Filings  •  CoinDesk  •  Bitbo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